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9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2832" autoAdjust="0"/>
  </p:normalViewPr>
  <p:slideViewPr>
    <p:cSldViewPr snapToGrid="0">
      <p:cViewPr varScale="1">
        <p:scale>
          <a:sx n="75" d="100"/>
          <a:sy n="75" d="100"/>
        </p:scale>
        <p:origin x="5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D1199E7E-0630-464F-9173-8B513976BF5C}" type="datetimeFigureOut">
              <a:rPr lang="he-IL" smtClean="0"/>
              <a:t>י"א/חשון/תשפ"ה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99258A3-F3CD-4454-B646-1116B711FC0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15835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258A3-F3CD-4454-B646-1116B711FC02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8317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258A3-F3CD-4454-B646-1116B711FC02}" type="slidenum">
              <a:rPr lang="he-IL" smtClean="0"/>
              <a:t>37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04254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01DD-A592-4944-A51A-E4E0C7529699}" type="datetime8">
              <a:rPr lang="he-IL" smtClean="0"/>
              <a:t>12 נובמבר 24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19122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AF633-8D1D-49DD-9135-2FCA1DC10E44}" type="datetime8">
              <a:rPr lang="he-IL" smtClean="0"/>
              <a:t>12 נובמבר 24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26835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4850-EC79-4161-867F-58367E514E7E}" type="datetime8">
              <a:rPr lang="he-IL" smtClean="0"/>
              <a:t>12 נובמבר 24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99613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2BC9-FB7E-4EFB-BDE9-CB889DB951DF}" type="datetime8">
              <a:rPr lang="he-IL" smtClean="0"/>
              <a:t>12 נובמבר 24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61725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4B1A3-3343-424B-BBCA-31CDCD0800D9}" type="datetime8">
              <a:rPr lang="he-IL" smtClean="0"/>
              <a:t>12 נובמבר 24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3152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15F47-BAC2-492C-BFC3-BB8AA4184C0E}" type="datetime8">
              <a:rPr lang="he-IL" smtClean="0"/>
              <a:t>12 נובמבר 24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9010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91E99-4137-4128-896C-A3F8120782A2}" type="datetime8">
              <a:rPr lang="he-IL" smtClean="0"/>
              <a:t>12 נובמבר 24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66783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47C9A-16CD-44CC-A1A5-B3B2E38BE99A}" type="datetime8">
              <a:rPr lang="he-IL" smtClean="0"/>
              <a:t>12 נובמבר 24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7514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4DDEE-E963-4F3A-8C98-730E7EAD4810}" type="datetime8">
              <a:rPr lang="he-IL" smtClean="0"/>
              <a:t>12 נובמבר 24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395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F5087-C5D0-4365-8425-6D52383F7B8C}" type="datetime8">
              <a:rPr lang="he-IL" smtClean="0"/>
              <a:t>12 נובמבר 24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920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5149-CD98-4092-A23D-7124D15E646E}" type="datetime8">
              <a:rPr lang="he-IL" smtClean="0"/>
              <a:t>12 נובמבר 24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38683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035F6-FF96-4355-B2F6-02613A1DB860}" type="datetime8">
              <a:rPr lang="he-IL" smtClean="0"/>
              <a:t>12 נובמבר 24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D115C-EB6E-4A26-B6B8-FA7F9385C8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93336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pn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 /><Relationship Id="rId3" Type="http://schemas.openxmlformats.org/officeDocument/2006/relationships/image" Target="../media/image11.png" /><Relationship Id="rId7" Type="http://schemas.openxmlformats.org/officeDocument/2006/relationships/image" Target="../media/image15.png" /><Relationship Id="rId12" Type="http://schemas.openxmlformats.org/officeDocument/2006/relationships/image" Target="../media/image20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4.png" /><Relationship Id="rId11" Type="http://schemas.openxmlformats.org/officeDocument/2006/relationships/image" Target="../media/image19.png" /><Relationship Id="rId5" Type="http://schemas.openxmlformats.org/officeDocument/2006/relationships/image" Target="../media/image13.png" /><Relationship Id="rId10" Type="http://schemas.openxmlformats.org/officeDocument/2006/relationships/image" Target="../media/image18.png" /><Relationship Id="rId4" Type="http://schemas.openxmlformats.org/officeDocument/2006/relationships/image" Target="../media/image12.png" /><Relationship Id="rId9" Type="http://schemas.openxmlformats.org/officeDocument/2006/relationships/image" Target="../media/image17.pn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23.png" /><Relationship Id="rId4" Type="http://schemas.openxmlformats.org/officeDocument/2006/relationships/image" Target="../media/image22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6.png" /><Relationship Id="rId5" Type="http://schemas.openxmlformats.org/officeDocument/2006/relationships/image" Target="../media/image23.png" /><Relationship Id="rId4" Type="http://schemas.openxmlformats.org/officeDocument/2006/relationships/image" Target="../media/image22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6.png" /><Relationship Id="rId5" Type="http://schemas.openxmlformats.org/officeDocument/2006/relationships/image" Target="../media/image23.png" /><Relationship Id="rId4" Type="http://schemas.openxmlformats.org/officeDocument/2006/relationships/image" Target="../media/image22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image" Target="../media/image27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0.png" /><Relationship Id="rId4" Type="http://schemas.openxmlformats.org/officeDocument/2006/relationships/image" Target="../media/image29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 /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3.png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 /><Relationship Id="rId7" Type="http://schemas.openxmlformats.org/officeDocument/2006/relationships/image" Target="../media/image40.png" /><Relationship Id="rId2" Type="http://schemas.openxmlformats.org/officeDocument/2006/relationships/image" Target="../media/image35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9.png" /><Relationship Id="rId5" Type="http://schemas.openxmlformats.org/officeDocument/2006/relationships/image" Target="../media/image38.png" /><Relationship Id="rId4" Type="http://schemas.openxmlformats.org/officeDocument/2006/relationships/image" Target="../media/image37.pn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 /><Relationship Id="rId2" Type="http://schemas.openxmlformats.org/officeDocument/2006/relationships/image" Target="../media/image41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45.png" /><Relationship Id="rId5" Type="http://schemas.openxmlformats.org/officeDocument/2006/relationships/image" Target="../media/image44.png" /><Relationship Id="rId4" Type="http://schemas.openxmlformats.org/officeDocument/2006/relationships/image" Target="../media/image43.png" 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 /><Relationship Id="rId3" Type="http://schemas.openxmlformats.org/officeDocument/2006/relationships/image" Target="../media/image460.png" /><Relationship Id="rId7" Type="http://schemas.openxmlformats.org/officeDocument/2006/relationships/image" Target="../media/image50.png" /><Relationship Id="rId2" Type="http://schemas.openxmlformats.org/officeDocument/2006/relationships/image" Target="../media/image46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49.png" /><Relationship Id="rId5" Type="http://schemas.openxmlformats.org/officeDocument/2006/relationships/image" Target="../media/image48.png" /><Relationship Id="rId4" Type="http://schemas.openxmlformats.org/officeDocument/2006/relationships/image" Target="../media/image47.png" /><Relationship Id="rId9" Type="http://schemas.openxmlformats.org/officeDocument/2006/relationships/image" Target="../media/image52.pn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 /><Relationship Id="rId7" Type="http://schemas.openxmlformats.org/officeDocument/2006/relationships/image" Target="../media/image58.png" /><Relationship Id="rId2" Type="http://schemas.openxmlformats.org/officeDocument/2006/relationships/image" Target="../media/image53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7.png" /><Relationship Id="rId5" Type="http://schemas.openxmlformats.org/officeDocument/2006/relationships/image" Target="../media/image56.png" /><Relationship Id="rId4" Type="http://schemas.openxmlformats.org/officeDocument/2006/relationships/image" Target="../media/image55.png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 /><Relationship Id="rId2" Type="http://schemas.openxmlformats.org/officeDocument/2006/relationships/image" Target="../media/image59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1.png" 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 /><Relationship Id="rId3" Type="http://schemas.openxmlformats.org/officeDocument/2006/relationships/image" Target="../media/image63.png" /><Relationship Id="rId7" Type="http://schemas.openxmlformats.org/officeDocument/2006/relationships/image" Target="../media/image67.png" /><Relationship Id="rId2" Type="http://schemas.openxmlformats.org/officeDocument/2006/relationships/image" Target="../media/image6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6.png" /><Relationship Id="rId5" Type="http://schemas.openxmlformats.org/officeDocument/2006/relationships/image" Target="../media/image65.png" /><Relationship Id="rId10" Type="http://schemas.openxmlformats.org/officeDocument/2006/relationships/image" Target="../media/image70.png" /><Relationship Id="rId4" Type="http://schemas.openxmlformats.org/officeDocument/2006/relationships/image" Target="../media/image64.png" /><Relationship Id="rId9" Type="http://schemas.openxmlformats.org/officeDocument/2006/relationships/image" Target="../media/image69.png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 /><Relationship Id="rId7" Type="http://schemas.openxmlformats.org/officeDocument/2006/relationships/image" Target="../media/image76.png" /><Relationship Id="rId2" Type="http://schemas.openxmlformats.org/officeDocument/2006/relationships/image" Target="../media/image71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5.png" /><Relationship Id="rId5" Type="http://schemas.openxmlformats.org/officeDocument/2006/relationships/image" Target="../media/image74.png" /><Relationship Id="rId4" Type="http://schemas.openxmlformats.org/officeDocument/2006/relationships/image" Target="../media/image73.png" 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 /><Relationship Id="rId3" Type="http://schemas.openxmlformats.org/officeDocument/2006/relationships/image" Target="../media/image78.png" /><Relationship Id="rId7" Type="http://schemas.openxmlformats.org/officeDocument/2006/relationships/image" Target="../media/image82.png" /><Relationship Id="rId12" Type="http://schemas.openxmlformats.org/officeDocument/2006/relationships/image" Target="../media/image87.png" /><Relationship Id="rId2" Type="http://schemas.openxmlformats.org/officeDocument/2006/relationships/image" Target="../media/image77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81.png" /><Relationship Id="rId11" Type="http://schemas.openxmlformats.org/officeDocument/2006/relationships/image" Target="../media/image86.png" /><Relationship Id="rId5" Type="http://schemas.openxmlformats.org/officeDocument/2006/relationships/image" Target="../media/image80.png" /><Relationship Id="rId10" Type="http://schemas.openxmlformats.org/officeDocument/2006/relationships/image" Target="../media/image85.png" /><Relationship Id="rId4" Type="http://schemas.openxmlformats.org/officeDocument/2006/relationships/image" Target="../media/image79.png" /><Relationship Id="rId9" Type="http://schemas.openxmlformats.org/officeDocument/2006/relationships/image" Target="../media/image84.png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 /><Relationship Id="rId2" Type="http://schemas.openxmlformats.org/officeDocument/2006/relationships/image" Target="../media/image88.pn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 /><Relationship Id="rId2" Type="http://schemas.openxmlformats.org/officeDocument/2006/relationships/image" Target="../media/image90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93.png" /><Relationship Id="rId4" Type="http://schemas.openxmlformats.org/officeDocument/2006/relationships/image" Target="../media/image92.png" 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 /><Relationship Id="rId3" Type="http://schemas.openxmlformats.org/officeDocument/2006/relationships/image" Target="../media/image95.png" /><Relationship Id="rId7" Type="http://schemas.openxmlformats.org/officeDocument/2006/relationships/image" Target="../media/image99.png" /><Relationship Id="rId12" Type="http://schemas.openxmlformats.org/officeDocument/2006/relationships/image" Target="../media/image89.png" /><Relationship Id="rId2" Type="http://schemas.openxmlformats.org/officeDocument/2006/relationships/image" Target="../media/image94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98.png" /><Relationship Id="rId11" Type="http://schemas.openxmlformats.org/officeDocument/2006/relationships/image" Target="../media/image103.png" /><Relationship Id="rId5" Type="http://schemas.openxmlformats.org/officeDocument/2006/relationships/image" Target="../media/image97.png" /><Relationship Id="rId10" Type="http://schemas.openxmlformats.org/officeDocument/2006/relationships/image" Target="../media/image102.png" /><Relationship Id="rId4" Type="http://schemas.openxmlformats.org/officeDocument/2006/relationships/image" Target="../media/image96.png" /><Relationship Id="rId9" Type="http://schemas.openxmlformats.org/officeDocument/2006/relationships/image" Target="../media/image101.png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 /><Relationship Id="rId2" Type="http://schemas.openxmlformats.org/officeDocument/2006/relationships/image" Target="../media/image105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08.png" /><Relationship Id="rId4" Type="http://schemas.openxmlformats.org/officeDocument/2006/relationships/image" Target="../media/image107.png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 /><Relationship Id="rId2" Type="http://schemas.openxmlformats.org/officeDocument/2006/relationships/image" Target="../media/image109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1.png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 /><Relationship Id="rId2" Type="http://schemas.openxmlformats.org/officeDocument/2006/relationships/image" Target="../media/image112.png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 /><Relationship Id="rId7" Type="http://schemas.openxmlformats.org/officeDocument/2006/relationships/image" Target="../media/image120.png" /><Relationship Id="rId2" Type="http://schemas.openxmlformats.org/officeDocument/2006/relationships/image" Target="../media/image115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19.png" /><Relationship Id="rId5" Type="http://schemas.openxmlformats.org/officeDocument/2006/relationships/image" Target="../media/image118.png" /><Relationship Id="rId4" Type="http://schemas.openxmlformats.org/officeDocument/2006/relationships/image" Target="../media/image117.png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 /><Relationship Id="rId7" Type="http://schemas.openxmlformats.org/officeDocument/2006/relationships/image" Target="../media/image126.png" /><Relationship Id="rId2" Type="http://schemas.openxmlformats.org/officeDocument/2006/relationships/image" Target="../media/image121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25.png" /><Relationship Id="rId5" Type="http://schemas.openxmlformats.org/officeDocument/2006/relationships/image" Target="../media/image124.png" /><Relationship Id="rId4" Type="http://schemas.openxmlformats.org/officeDocument/2006/relationships/image" Target="../media/image123.png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 /><Relationship Id="rId2" Type="http://schemas.openxmlformats.org/officeDocument/2006/relationships/image" Target="../media/image127.png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 /><Relationship Id="rId2" Type="http://schemas.openxmlformats.org/officeDocument/2006/relationships/image" Target="../media/image129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31.png" /><Relationship Id="rId4" Type="http://schemas.openxmlformats.org/officeDocument/2006/relationships/image" Target="../media/image130.png" 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 /><Relationship Id="rId3" Type="http://schemas.openxmlformats.org/officeDocument/2006/relationships/image" Target="../media/image132.png" /><Relationship Id="rId7" Type="http://schemas.openxmlformats.org/officeDocument/2006/relationships/image" Target="../media/image136.png" /><Relationship Id="rId12" Type="http://schemas.openxmlformats.org/officeDocument/2006/relationships/image" Target="../media/image14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35.png" /><Relationship Id="rId11" Type="http://schemas.openxmlformats.org/officeDocument/2006/relationships/image" Target="../media/image140.png" /><Relationship Id="rId5" Type="http://schemas.openxmlformats.org/officeDocument/2006/relationships/image" Target="../media/image134.png" /><Relationship Id="rId10" Type="http://schemas.openxmlformats.org/officeDocument/2006/relationships/image" Target="../media/image139.png" /><Relationship Id="rId4" Type="http://schemas.openxmlformats.org/officeDocument/2006/relationships/image" Target="../media/image133.png" /><Relationship Id="rId9" Type="http://schemas.openxmlformats.org/officeDocument/2006/relationships/image" Target="../media/image138.png" 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 /><Relationship Id="rId13" Type="http://schemas.openxmlformats.org/officeDocument/2006/relationships/image" Target="../media/image149.png" /><Relationship Id="rId18" Type="http://schemas.openxmlformats.org/officeDocument/2006/relationships/image" Target="../media/image154.png" /><Relationship Id="rId3" Type="http://schemas.openxmlformats.org/officeDocument/2006/relationships/image" Target="../media/image142.png" /><Relationship Id="rId7" Type="http://schemas.openxmlformats.org/officeDocument/2006/relationships/image" Target="../media/image143.png" /><Relationship Id="rId12" Type="http://schemas.openxmlformats.org/officeDocument/2006/relationships/image" Target="../media/image148.png" /><Relationship Id="rId17" Type="http://schemas.openxmlformats.org/officeDocument/2006/relationships/image" Target="../media/image153.png" /><Relationship Id="rId2" Type="http://schemas.openxmlformats.org/officeDocument/2006/relationships/image" Target="../media/image132.png" /><Relationship Id="rId16" Type="http://schemas.openxmlformats.org/officeDocument/2006/relationships/image" Target="../media/image15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36.png" /><Relationship Id="rId11" Type="http://schemas.openxmlformats.org/officeDocument/2006/relationships/image" Target="../media/image147.png" /><Relationship Id="rId5" Type="http://schemas.openxmlformats.org/officeDocument/2006/relationships/image" Target="../media/image135.png" /><Relationship Id="rId15" Type="http://schemas.openxmlformats.org/officeDocument/2006/relationships/image" Target="../media/image151.png" /><Relationship Id="rId10" Type="http://schemas.openxmlformats.org/officeDocument/2006/relationships/image" Target="../media/image146.png" /><Relationship Id="rId4" Type="http://schemas.openxmlformats.org/officeDocument/2006/relationships/image" Target="../media/image134.png" /><Relationship Id="rId9" Type="http://schemas.openxmlformats.org/officeDocument/2006/relationships/image" Target="../media/image145.png" /><Relationship Id="rId14" Type="http://schemas.openxmlformats.org/officeDocument/2006/relationships/image" Target="../media/image150.png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 /><Relationship Id="rId3" Type="http://schemas.openxmlformats.org/officeDocument/2006/relationships/image" Target="../media/image157.png" /><Relationship Id="rId7" Type="http://schemas.openxmlformats.org/officeDocument/2006/relationships/image" Target="../media/image161.png" /><Relationship Id="rId2" Type="http://schemas.openxmlformats.org/officeDocument/2006/relationships/image" Target="../media/image156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60.png" /><Relationship Id="rId5" Type="http://schemas.openxmlformats.org/officeDocument/2006/relationships/image" Target="../media/image159.png" /><Relationship Id="rId10" Type="http://schemas.openxmlformats.org/officeDocument/2006/relationships/image" Target="../media/image164.png" /><Relationship Id="rId4" Type="http://schemas.openxmlformats.org/officeDocument/2006/relationships/image" Target="../media/image158.png" /><Relationship Id="rId9" Type="http://schemas.openxmlformats.org/officeDocument/2006/relationships/image" Target="../media/image163.png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 /><Relationship Id="rId2" Type="http://schemas.openxmlformats.org/officeDocument/2006/relationships/image" Target="../media/image165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69.png" /><Relationship Id="rId5" Type="http://schemas.openxmlformats.org/officeDocument/2006/relationships/image" Target="../media/image168.png" /><Relationship Id="rId4" Type="http://schemas.openxmlformats.org/officeDocument/2006/relationships/image" Target="../media/image16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קלאסית 1 – תרגול 1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הקדמה מתמטית – וקטורים, מכפלה </a:t>
            </a:r>
            <a:r>
              <a:rPr lang="he-IL" dirty="0" err="1"/>
              <a:t>סקלרית</a:t>
            </a:r>
            <a:r>
              <a:rPr lang="he-IL" dirty="0"/>
              <a:t> ומכפלה </a:t>
            </a:r>
            <a:r>
              <a:rPr lang="he-IL" dirty="0" err="1"/>
              <a:t>וקטורית</a:t>
            </a:r>
            <a:endParaRPr lang="he-IL" dirty="0"/>
          </a:p>
          <a:p>
            <a:r>
              <a:rPr lang="he-IL"/>
              <a:t>מתחילים ב-13:10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1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08049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הקדמה להקדמה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2</a:t>
            </a:fld>
            <a:endParaRPr lang="he-IL"/>
          </a:p>
        </p:txBody>
      </p:sp>
      <p:sp>
        <p:nvSpPr>
          <p:cNvPr id="7" name="מציין מיקום תוכן 2"/>
          <p:cNvSpPr txBox="1">
            <a:spLocks/>
          </p:cNvSpPr>
          <p:nvPr/>
        </p:nvSpPr>
        <p:spPr>
          <a:xfrm>
            <a:off x="9906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/>
              <a:t>הכרות</a:t>
            </a:r>
          </a:p>
          <a:p>
            <a:r>
              <a:rPr lang="he-IL" dirty="0"/>
              <a:t>מטרת התרגולים</a:t>
            </a:r>
          </a:p>
          <a:p>
            <a:r>
              <a:rPr lang="he-IL" dirty="0"/>
              <a:t>שיטות לימוד</a:t>
            </a:r>
          </a:p>
          <a:p>
            <a:r>
              <a:rPr lang="he-IL" dirty="0"/>
              <a:t>נהלים</a:t>
            </a:r>
          </a:p>
          <a:p>
            <a:pPr lvl="1"/>
            <a:r>
              <a:rPr lang="he-IL" dirty="0"/>
              <a:t>במהלך התרגול</a:t>
            </a:r>
          </a:p>
          <a:p>
            <a:pPr lvl="1"/>
            <a:r>
              <a:rPr lang="he-IL" dirty="0"/>
              <a:t>תרגילי בית</a:t>
            </a:r>
          </a:p>
          <a:p>
            <a:pPr lvl="1"/>
            <a:r>
              <a:rPr lang="he-IL" dirty="0"/>
              <a:t>שעות קבלה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he-IL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he-IL" dirty="0"/>
              <a:t>ושיהיה בהצלחה!</a:t>
            </a:r>
          </a:p>
        </p:txBody>
      </p:sp>
    </p:spTree>
    <p:extLst>
      <p:ext uri="{BB962C8B-B14F-4D97-AF65-F5344CB8AC3E}">
        <p14:creationId xmlns:p14="http://schemas.microsoft.com/office/powerpoint/2010/main" val="1446819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נגזרות </a:t>
            </a:r>
            <a:r>
              <a:rPr lang="he-IL" dirty="0" err="1"/>
              <a:t>ואינטגרלים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2057"/>
                <a:ext cx="10515600" cy="5167086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he-IL" dirty="0"/>
                  <a:t>הגדרת הנגזרת </a:t>
                </a:r>
              </a:p>
              <a:p>
                <a:pPr marL="0" indent="0" algn="ctr">
                  <a:lnSpc>
                    <a:spcPct val="170000"/>
                  </a:lnSpc>
                  <a:buNone/>
                </a:pPr>
                <a:r>
                  <a:rPr lang="he-IL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𝑑𝑓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</m:oMath>
                </a14:m>
                <a:endParaRPr lang="he-IL" dirty="0"/>
              </a:p>
              <a:p>
                <a:pPr>
                  <a:lnSpc>
                    <a:spcPct val="170000"/>
                  </a:lnSpc>
                </a:pPr>
                <a:r>
                  <a:rPr lang="he-IL" dirty="0"/>
                  <a:t>אינטגרל בלתי </a:t>
                </a:r>
                <a:r>
                  <a:rPr lang="he-IL" dirty="0" err="1"/>
                  <a:t>מסויים</a:t>
                </a:r>
                <a:r>
                  <a:rPr lang="he-IL" dirty="0"/>
                  <a:t> </a:t>
                </a:r>
              </a:p>
              <a:p>
                <a:pPr marL="0" indent="0" algn="ctr">
                  <a:lnSpc>
                    <a:spcPct val="170000"/>
                  </a:lnSpc>
                  <a:buNone/>
                </a:pPr>
                <a:r>
                  <a:rPr lang="he-IL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𝑐𝑜𝑛𝑠𝑡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he-IL" dirty="0"/>
              </a:p>
              <a:p>
                <a:pPr>
                  <a:lnSpc>
                    <a:spcPct val="170000"/>
                  </a:lnSpc>
                </a:pPr>
                <a:r>
                  <a:rPr lang="he-IL" dirty="0"/>
                  <a:t>המשפט היסודי של </a:t>
                </a:r>
                <a:r>
                  <a:rPr lang="he-IL" dirty="0" err="1"/>
                  <a:t>החדו"א</a:t>
                </a:r>
                <a:r>
                  <a:rPr lang="he-IL" dirty="0"/>
                  <a:t> </a:t>
                </a:r>
              </a:p>
              <a:p>
                <a:pPr marL="0" indent="0" algn="ctr">
                  <a:lnSpc>
                    <a:spcPct val="170000"/>
                  </a:lnSpc>
                  <a:buNone/>
                </a:pPr>
                <a:r>
                  <a:rPr lang="he-IL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he-IL" dirty="0"/>
              </a:p>
              <a:p>
                <a:pPr>
                  <a:lnSpc>
                    <a:spcPct val="170000"/>
                  </a:lnSpc>
                </a:pPr>
                <a:r>
                  <a:rPr lang="he-IL" dirty="0"/>
                  <a:t>נקודות קיצון </a:t>
                </a:r>
              </a:p>
              <a:p>
                <a:pPr marL="0" indent="0" algn="ctr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he-IL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2057"/>
                <a:ext cx="10515600" cy="5167086"/>
              </a:xfrm>
              <a:blipFill rotWithShape="0">
                <a:blip r:embed="rId2"/>
                <a:stretch>
                  <a:fillRect r="-40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021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נגזרות </a:t>
            </a:r>
            <a:r>
              <a:rPr lang="he-IL" dirty="0" err="1"/>
              <a:t>ואינטגרלים</a:t>
            </a:r>
            <a:r>
              <a:rPr lang="he-IL" dirty="0"/>
              <a:t> – תזכורת</a:t>
            </a: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967" y="1955573"/>
            <a:ext cx="6229347" cy="40533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65714" y="1690688"/>
                <a:ext cx="860425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714" y="1690688"/>
                <a:ext cx="860425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14603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נגזרות </a:t>
            </a:r>
            <a:r>
              <a:rPr lang="he-IL" dirty="0" err="1"/>
              <a:t>ואינטגרלים</a:t>
            </a:r>
            <a:r>
              <a:rPr lang="he-IL" dirty="0"/>
              <a:t> – תזכורת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e-IL" dirty="0"/>
                  <a:t>נגזרת של מכפלה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כלל השרשרת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𝑑𝑔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𝑑𝑔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 r="-10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3362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/>
              <a:t>מימדים</a:t>
            </a:r>
            <a:r>
              <a:rPr lang="he-IL" dirty="0"/>
              <a:t> ויחידות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60000"/>
              </a:lnSpc>
            </a:pPr>
            <a:r>
              <a:rPr lang="he-IL" sz="4500" dirty="0"/>
              <a:t>בפיזיקה לביטויים המתמטיים יש משמעויות בעולם.</a:t>
            </a:r>
          </a:p>
          <a:p>
            <a:pPr>
              <a:lnSpc>
                <a:spcPct val="160000"/>
              </a:lnSpc>
            </a:pPr>
            <a:r>
              <a:rPr lang="he-IL" sz="4500" dirty="0"/>
              <a:t>את הביטויים מונים לפי </a:t>
            </a:r>
            <a:r>
              <a:rPr lang="he-IL" sz="4500" u="sng" dirty="0" err="1"/>
              <a:t>המימדים</a:t>
            </a:r>
            <a:r>
              <a:rPr lang="he-IL" sz="4500" dirty="0"/>
              <a:t> של מה שהם מיצגים-</a:t>
            </a:r>
          </a:p>
          <a:p>
            <a:pPr lvl="1">
              <a:lnSpc>
                <a:spcPct val="160000"/>
              </a:lnSpc>
            </a:pPr>
            <a:r>
              <a:rPr lang="he-IL" sz="4500" dirty="0"/>
              <a:t>אורך, זמן, </a:t>
            </a:r>
            <a:r>
              <a:rPr lang="he-IL" sz="4500" dirty="0" err="1"/>
              <a:t>טמפ</a:t>
            </a:r>
            <a:r>
              <a:rPr lang="he-IL" sz="4500" dirty="0"/>
              <a:t>', מסה</a:t>
            </a:r>
          </a:p>
          <a:p>
            <a:pPr>
              <a:lnSpc>
                <a:spcPct val="160000"/>
              </a:lnSpc>
            </a:pPr>
            <a:r>
              <a:rPr lang="he-IL" sz="4500" dirty="0"/>
              <a:t>אי אפשר לחבר ביטויים עם </a:t>
            </a:r>
            <a:r>
              <a:rPr lang="he-IL" sz="4500" dirty="0" err="1"/>
              <a:t>מימדים</a:t>
            </a:r>
            <a:r>
              <a:rPr lang="he-IL" sz="4500" dirty="0"/>
              <a:t> שונים</a:t>
            </a:r>
          </a:p>
          <a:p>
            <a:pPr lvl="1">
              <a:lnSpc>
                <a:spcPct val="160000"/>
              </a:lnSpc>
            </a:pPr>
            <a:r>
              <a:rPr lang="he-IL" sz="4500" dirty="0"/>
              <a:t>4</a:t>
            </a:r>
            <a:r>
              <a:rPr lang="en-US" sz="4500" dirty="0"/>
              <a:t>X</a:t>
            </a:r>
            <a:r>
              <a:rPr lang="he-IL" sz="4500" dirty="0"/>
              <a:t>אורך + 3</a:t>
            </a:r>
            <a:r>
              <a:rPr lang="en-US" sz="4500" dirty="0"/>
              <a:t>X</a:t>
            </a:r>
            <a:r>
              <a:rPr lang="he-IL" sz="4500" dirty="0"/>
              <a:t>מסה = אוי ואבוי</a:t>
            </a:r>
          </a:p>
          <a:p>
            <a:pPr>
              <a:lnSpc>
                <a:spcPct val="160000"/>
              </a:lnSpc>
            </a:pPr>
            <a:r>
              <a:rPr lang="he-IL" sz="4500" dirty="0"/>
              <a:t>אי אפשר להעלות בחזקה של ביטוי עם </a:t>
            </a:r>
            <a:r>
              <a:rPr lang="he-IL" sz="4500" dirty="0" err="1"/>
              <a:t>מימדים</a:t>
            </a:r>
            <a:endParaRPr lang="he-IL" sz="4500" dirty="0"/>
          </a:p>
          <a:p>
            <a:pPr>
              <a:lnSpc>
                <a:spcPct val="160000"/>
              </a:lnSpc>
            </a:pPr>
            <a:r>
              <a:rPr lang="he-IL" sz="4500" dirty="0"/>
              <a:t>אפשר להכפיל ולחלק ביטויים עם </a:t>
            </a:r>
            <a:r>
              <a:rPr lang="he-IL" sz="4500" dirty="0" err="1"/>
              <a:t>מימדים</a:t>
            </a:r>
            <a:r>
              <a:rPr lang="he-IL" sz="4500" dirty="0"/>
              <a:t> שונים</a:t>
            </a:r>
          </a:p>
          <a:p>
            <a:pPr lvl="1">
              <a:lnSpc>
                <a:spcPct val="160000"/>
              </a:lnSpc>
            </a:pPr>
            <a:r>
              <a:rPr lang="he-IL" sz="4500" dirty="0"/>
              <a:t>אורך/זמן = מהירות</a:t>
            </a:r>
          </a:p>
          <a:p>
            <a:pPr lvl="1">
              <a:lnSpc>
                <a:spcPct val="160000"/>
              </a:lnSpc>
            </a:pPr>
            <a:r>
              <a:rPr lang="he-IL" sz="4500" dirty="0"/>
              <a:t>אורך</a:t>
            </a:r>
            <a:r>
              <a:rPr lang="en-US" sz="4500" dirty="0"/>
              <a:t>X</a:t>
            </a:r>
            <a:r>
              <a:rPr lang="he-IL" sz="4500" dirty="0"/>
              <a:t>אורך = שטח</a:t>
            </a:r>
          </a:p>
          <a:p>
            <a:pPr lvl="1">
              <a:lnSpc>
                <a:spcPct val="160000"/>
              </a:lnSpc>
            </a:pPr>
            <a:r>
              <a:rPr lang="he-IL" sz="4500" dirty="0"/>
              <a:t>מסה/(אורך</a:t>
            </a:r>
            <a:r>
              <a:rPr lang="en-US" sz="4500" dirty="0"/>
              <a:t>X</a:t>
            </a:r>
            <a:r>
              <a:rPr lang="he-IL" sz="4500" dirty="0"/>
              <a:t>אורך</a:t>
            </a:r>
            <a:r>
              <a:rPr lang="en-US" sz="4500" dirty="0"/>
              <a:t>X</a:t>
            </a:r>
            <a:r>
              <a:rPr lang="he-IL" sz="4500" dirty="0"/>
              <a:t>אורך) =</a:t>
            </a:r>
            <a:endParaRPr lang="he-IL" dirty="0"/>
          </a:p>
          <a:p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133074" y="4001294"/>
                <a:ext cx="2487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074" y="4001294"/>
                <a:ext cx="248786" cy="369332"/>
              </a:xfrm>
              <a:prstGeom prst="rect">
                <a:avLst/>
              </a:prstGeom>
              <a:blipFill rotWithShape="0">
                <a:blip r:embed="rId2"/>
                <a:stretch>
                  <a:fillRect r="-57804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33074" y="4440667"/>
                <a:ext cx="248786" cy="610936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074" y="4440667"/>
                <a:ext cx="248786" cy="610936"/>
              </a:xfrm>
              <a:prstGeom prst="rect">
                <a:avLst/>
              </a:prstGeom>
              <a:blipFill rotWithShape="0">
                <a:blip r:embed="rId3"/>
                <a:stretch>
                  <a:fillRect r="-100487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014650" y="5548409"/>
                <a:ext cx="16269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 dirty="0"/>
                  <a:t>צפיפות מסה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650" y="5548409"/>
                <a:ext cx="1626984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8197" r="-2996" b="-2459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מציין מיקום של מספר שקופית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6602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/>
              <a:t>מימדים</a:t>
            </a:r>
            <a:r>
              <a:rPr lang="he-IL" dirty="0"/>
              <a:t> ויחידות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 dirty="0"/>
                  <a:t>את </a:t>
                </a:r>
                <a:r>
                  <a:rPr lang="he-IL" dirty="0" err="1"/>
                  <a:t>המימדים</a:t>
                </a:r>
                <a:r>
                  <a:rPr lang="he-IL" dirty="0"/>
                  <a:t> נבטא בעזרת יחידות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he-IL" dirty="0"/>
                  <a:t>אורך אפשר לחלק ליחידות של ס"מ, ק"מ, שנות אורך וכו'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יש לנו חופש בבחירת היחידות! נבחר את היחידות שמתאימות לבעיה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he-IL" dirty="0"/>
                  <a:t>הישגים של אצנים נמדוד במאיות השנייה, תהליכים גאולוגיים נמדוד </a:t>
                </a:r>
                <a:r>
                  <a:rPr lang="he-IL" dirty="0" err="1"/>
                  <a:t>במליוני</a:t>
                </a:r>
                <a:r>
                  <a:rPr lang="he-IL" dirty="0"/>
                  <a:t> שנים.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נסמן יחדות </a:t>
                </a:r>
                <a:r>
                  <a:rPr lang="he-IL" dirty="0" err="1"/>
                  <a:t>בסגריים</a:t>
                </a:r>
                <a:r>
                  <a:rPr lang="he-IL" dirty="0"/>
                  <a:t> מרובעים []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𝑠𝑒𝑐</m:t>
                    </m:r>
                  </m:oMath>
                </a14:m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ביטויים פיזיקליים שמאופיינים על ידי הגודל </a:t>
                </a:r>
                <a:r>
                  <a:rPr lang="he-IL" dirty="0" err="1"/>
                  <a:t>והמימדים</a:t>
                </a:r>
                <a:r>
                  <a:rPr lang="he-IL" dirty="0"/>
                  <a:t> בלבד נקראים </a:t>
                </a:r>
                <a:r>
                  <a:rPr lang="he-IL" u="sng" dirty="0"/>
                  <a:t>סקלרים.</a:t>
                </a: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r="-928" b="-154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3738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וקטורים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 dirty="0"/>
                  <a:t>ביטויים </a:t>
                </a:r>
                <a:r>
                  <a:rPr lang="he-IL" dirty="0" err="1"/>
                  <a:t>פיזיקלים</a:t>
                </a:r>
                <a:r>
                  <a:rPr lang="he-IL" dirty="0"/>
                  <a:t> בעלי </a:t>
                </a:r>
                <a:r>
                  <a:rPr lang="he-IL" u="sng" dirty="0"/>
                  <a:t>גודל</a:t>
                </a:r>
                <a:r>
                  <a:rPr lang="he-IL" dirty="0"/>
                  <a:t> (סקלר) ו</a:t>
                </a:r>
                <a:r>
                  <a:rPr lang="he-IL" u="sng" dirty="0"/>
                  <a:t>כיוון</a:t>
                </a:r>
                <a:r>
                  <a:rPr lang="he-IL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נסמן וקטורים בעזרת חץ מעל הביטוי -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נתאר את </a:t>
                </a:r>
                <a:r>
                  <a:rPr lang="he-IL" dirty="0" err="1"/>
                  <a:t>הוקטור</a:t>
                </a:r>
                <a:r>
                  <a:rPr lang="he-IL" dirty="0"/>
                  <a:t> בעזרת </a:t>
                </a:r>
                <a:r>
                  <a:rPr lang="he-IL" u="sng" dirty="0"/>
                  <a:t>בסיס</a:t>
                </a:r>
                <a:r>
                  <a:rPr lang="he-IL" dirty="0"/>
                  <a:t> (מערכת צירים)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he-IL" dirty="0"/>
                  <a:t>גם בסיס אפשר לבחור, כמו החופש לבחירת היחידות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he-IL" dirty="0"/>
                  <a:t>את הבסיס נתאר בצורה הכי נוחה בעזרת סט של וקטורים </a:t>
                </a:r>
                <a:r>
                  <a:rPr lang="he-IL" u="sng" dirty="0"/>
                  <a:t>אורתוגונליים</a:t>
                </a:r>
                <a:r>
                  <a:rPr lang="he-IL" dirty="0"/>
                  <a:t> (מאונכים זה לזה) ו</a:t>
                </a:r>
                <a:r>
                  <a:rPr lang="he-IL" u="sng" dirty="0"/>
                  <a:t>מנורמלים</a:t>
                </a:r>
                <a:r>
                  <a:rPr lang="he-IL" dirty="0"/>
                  <a:t> (בעלי גודל=1). לסט כזה נקרא בסיס </a:t>
                </a:r>
                <a:r>
                  <a:rPr lang="he-IL" u="sng" dirty="0" err="1"/>
                  <a:t>אורתונורמלי</a:t>
                </a:r>
                <a:r>
                  <a:rPr lang="he-IL" dirty="0"/>
                  <a:t> </a:t>
                </a:r>
                <a:r>
                  <a:rPr lang="he-IL" dirty="0" err="1"/>
                  <a:t>ולוקטורים</a:t>
                </a:r>
                <a:r>
                  <a:rPr lang="he-IL" dirty="0"/>
                  <a:t> בו נקרא </a:t>
                </a:r>
                <a:r>
                  <a:rPr lang="he-IL" u="sng" dirty="0" err="1"/>
                  <a:t>וקטורי</a:t>
                </a:r>
                <a:r>
                  <a:rPr lang="he-IL" u="sng" dirty="0"/>
                  <a:t> בסיס</a:t>
                </a:r>
                <a:r>
                  <a:rPr lang="he-IL" dirty="0"/>
                  <a:t>.</a:t>
                </a:r>
                <a:endParaRPr lang="he-IL" u="sng" dirty="0"/>
              </a:p>
              <a:p>
                <a:pPr lvl="1">
                  <a:lnSpc>
                    <a:spcPct val="150000"/>
                  </a:lnSpc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r="-928" b="-140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קבוצה 8"/>
          <p:cNvGrpSpPr/>
          <p:nvPr/>
        </p:nvGrpSpPr>
        <p:grpSpPr>
          <a:xfrm>
            <a:off x="2047233" y="1407687"/>
            <a:ext cx="2317549" cy="1635764"/>
            <a:chOff x="2333836" y="1271209"/>
            <a:chExt cx="2317549" cy="1635764"/>
          </a:xfrm>
        </p:grpSpPr>
        <p:cxnSp>
          <p:nvCxnSpPr>
            <p:cNvPr id="5" name="מחבר חץ ישר 4"/>
            <p:cNvCxnSpPr/>
            <p:nvPr/>
          </p:nvCxnSpPr>
          <p:spPr>
            <a:xfrm flipV="1">
              <a:off x="2743200" y="1690688"/>
              <a:ext cx="1542197" cy="1216285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סוגר מסולסל ימני 5"/>
            <p:cNvSpPr/>
            <p:nvPr/>
          </p:nvSpPr>
          <p:spPr>
            <a:xfrm rot="13864717">
              <a:off x="3082598" y="1114982"/>
              <a:ext cx="381906" cy="1879430"/>
            </a:xfrm>
            <a:prstGeom prst="rightBrace">
              <a:avLst>
                <a:gd name="adj1" fmla="val 55605"/>
                <a:gd name="adj2" fmla="val 52027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7" name="TextBox 6"/>
            <p:cNvSpPr txBox="1"/>
            <p:nvPr/>
          </p:nvSpPr>
          <p:spPr>
            <a:xfrm rot="19309583">
              <a:off x="2688233" y="1506021"/>
              <a:ext cx="558166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dirty="0"/>
                <a:t>גודל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 rot="3042747">
              <a:off x="4206070" y="1347192"/>
              <a:ext cx="521297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dirty="0"/>
                <a:t>כיוון</a:t>
              </a:r>
            </a:p>
          </p:txBody>
        </p:sp>
      </p:grpSp>
      <p:sp>
        <p:nvSpPr>
          <p:cNvPr id="10" name="מציין מיקום של מספר שקופית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3914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וקטורים – בסיס </a:t>
            </a:r>
            <a:r>
              <a:rPr lang="he-IL" dirty="0" err="1"/>
              <a:t>קרטזי</a:t>
            </a:r>
            <a:endParaRPr lang="he-IL" dirty="0"/>
          </a:p>
        </p:txBody>
      </p:sp>
      <p:grpSp>
        <p:nvGrpSpPr>
          <p:cNvPr id="14" name="קבוצה 13"/>
          <p:cNvGrpSpPr/>
          <p:nvPr/>
        </p:nvGrpSpPr>
        <p:grpSpPr>
          <a:xfrm>
            <a:off x="2495975" y="1663392"/>
            <a:ext cx="3290814" cy="3120570"/>
            <a:chOff x="3055535" y="1663392"/>
            <a:chExt cx="3290814" cy="3120570"/>
          </a:xfrm>
        </p:grpSpPr>
        <p:cxnSp>
          <p:nvCxnSpPr>
            <p:cNvPr id="5" name="מחבר חץ ישר 4"/>
            <p:cNvCxnSpPr/>
            <p:nvPr/>
          </p:nvCxnSpPr>
          <p:spPr>
            <a:xfrm flipV="1">
              <a:off x="3179928" y="2074460"/>
              <a:ext cx="13648" cy="25248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מחבר חץ ישר 8"/>
            <p:cNvCxnSpPr/>
            <p:nvPr/>
          </p:nvCxnSpPr>
          <p:spPr>
            <a:xfrm>
              <a:off x="3179928" y="4599296"/>
              <a:ext cx="290697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3055535" y="166339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5535" y="1663392"/>
                  <a:ext cx="248786" cy="369332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r="-21951" b="-8333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6097563" y="4414630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7563" y="4414630"/>
                  <a:ext cx="248786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r="-9756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קבוצה 25"/>
          <p:cNvGrpSpPr/>
          <p:nvPr/>
        </p:nvGrpSpPr>
        <p:grpSpPr>
          <a:xfrm>
            <a:off x="8186055" y="2137743"/>
            <a:ext cx="2363665" cy="371810"/>
            <a:chOff x="8186055" y="2137743"/>
            <a:chExt cx="2363665" cy="3718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8186055" y="2137743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6055" y="2137743"/>
                  <a:ext cx="248786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t="-5000" r="-107317" b="-8333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/>
            <p:cNvSpPr txBox="1"/>
            <p:nvPr/>
          </p:nvSpPr>
          <p:spPr>
            <a:xfrm>
              <a:off x="8779684" y="2140221"/>
              <a:ext cx="1770036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dirty="0"/>
                <a:t>בסיס </a:t>
              </a:r>
              <a:r>
                <a:rPr lang="he-IL" dirty="0" err="1"/>
                <a:t>אורתונורמלי</a:t>
              </a:r>
              <a:endParaRPr lang="he-IL" dirty="0"/>
            </a:p>
          </p:txBody>
        </p:sp>
      </p:grpSp>
      <p:grpSp>
        <p:nvGrpSpPr>
          <p:cNvPr id="27" name="קבוצה 26"/>
          <p:cNvGrpSpPr/>
          <p:nvPr/>
        </p:nvGrpSpPr>
        <p:grpSpPr>
          <a:xfrm>
            <a:off x="7821973" y="2509553"/>
            <a:ext cx="1250662" cy="635438"/>
            <a:chOff x="7821973" y="2509553"/>
            <a:chExt cx="1250662" cy="635438"/>
          </a:xfrm>
        </p:grpSpPr>
        <p:cxnSp>
          <p:nvCxnSpPr>
            <p:cNvPr id="23" name="מחבר חץ ישר 22"/>
            <p:cNvCxnSpPr/>
            <p:nvPr/>
          </p:nvCxnSpPr>
          <p:spPr>
            <a:xfrm flipV="1">
              <a:off x="8338782" y="2509553"/>
              <a:ext cx="0" cy="23364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מחבר חץ ישר 23"/>
            <p:cNvCxnSpPr/>
            <p:nvPr/>
          </p:nvCxnSpPr>
          <p:spPr>
            <a:xfrm flipV="1">
              <a:off x="8545774" y="2511825"/>
              <a:ext cx="0" cy="23364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7821973" y="2775659"/>
              <a:ext cx="1250662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dirty="0" err="1"/>
                <a:t>וקטורי</a:t>
              </a:r>
              <a:r>
                <a:rPr lang="he-IL" dirty="0"/>
                <a:t> בסיס</a:t>
              </a:r>
            </a:p>
          </p:txBody>
        </p:sp>
      </p:grpSp>
      <p:sp>
        <p:nvSpPr>
          <p:cNvPr id="28" name="מציין מיקום של מספר שקופית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9</a:t>
            </a:fld>
            <a:endParaRPr lang="he-IL"/>
          </a:p>
        </p:txBody>
      </p:sp>
      <p:grpSp>
        <p:nvGrpSpPr>
          <p:cNvPr id="19" name="קבוצה 18"/>
          <p:cNvGrpSpPr/>
          <p:nvPr/>
        </p:nvGrpSpPr>
        <p:grpSpPr>
          <a:xfrm>
            <a:off x="2620368" y="2636134"/>
            <a:ext cx="2296152" cy="1963162"/>
            <a:chOff x="3179928" y="2636134"/>
            <a:chExt cx="2296152" cy="1963162"/>
          </a:xfrm>
        </p:grpSpPr>
        <p:cxnSp>
          <p:nvCxnSpPr>
            <p:cNvPr id="16" name="מחבר חץ ישר 15"/>
            <p:cNvCxnSpPr/>
            <p:nvPr/>
          </p:nvCxnSpPr>
          <p:spPr>
            <a:xfrm flipV="1">
              <a:off x="3179928" y="3043451"/>
              <a:ext cx="2060812" cy="15558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5206454" y="2636134"/>
                  <a:ext cx="269626" cy="50885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he-IL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6454" y="2636134"/>
                  <a:ext cx="269626" cy="50885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r="-6667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קבוצה 40"/>
          <p:cNvGrpSpPr/>
          <p:nvPr/>
        </p:nvGrpSpPr>
        <p:grpSpPr>
          <a:xfrm>
            <a:off x="2634016" y="3144991"/>
            <a:ext cx="2012878" cy="1961047"/>
            <a:chOff x="3193576" y="3144991"/>
            <a:chExt cx="2012878" cy="1961047"/>
          </a:xfrm>
        </p:grpSpPr>
        <p:cxnSp>
          <p:nvCxnSpPr>
            <p:cNvPr id="30" name="מחבר ישר 29"/>
            <p:cNvCxnSpPr/>
            <p:nvPr/>
          </p:nvCxnSpPr>
          <p:spPr>
            <a:xfrm>
              <a:off x="5206454" y="3144991"/>
              <a:ext cx="0" cy="1454305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מחבר חץ ישר 37"/>
            <p:cNvCxnSpPr/>
            <p:nvPr/>
          </p:nvCxnSpPr>
          <p:spPr>
            <a:xfrm>
              <a:off x="3193576" y="4599296"/>
              <a:ext cx="201287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4921183" y="4599296"/>
                  <a:ext cx="269626" cy="50674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he-IL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1183" y="4599296"/>
                  <a:ext cx="269626" cy="50674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r="-60000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קבוצה 41"/>
          <p:cNvGrpSpPr/>
          <p:nvPr/>
        </p:nvGrpSpPr>
        <p:grpSpPr>
          <a:xfrm>
            <a:off x="2088106" y="2775659"/>
            <a:ext cx="2558788" cy="1823637"/>
            <a:chOff x="2647666" y="2775659"/>
            <a:chExt cx="2558788" cy="1823637"/>
          </a:xfrm>
        </p:grpSpPr>
        <p:cxnSp>
          <p:nvCxnSpPr>
            <p:cNvPr id="32" name="מחבר ישר 31"/>
            <p:cNvCxnSpPr/>
            <p:nvPr/>
          </p:nvCxnSpPr>
          <p:spPr>
            <a:xfrm flipH="1">
              <a:off x="3193576" y="3057099"/>
              <a:ext cx="2012878" cy="0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מחבר חץ ישר 35"/>
            <p:cNvCxnSpPr/>
            <p:nvPr/>
          </p:nvCxnSpPr>
          <p:spPr>
            <a:xfrm flipV="1">
              <a:off x="3179928" y="3043451"/>
              <a:ext cx="0" cy="155584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2647666" y="2775659"/>
                  <a:ext cx="269626" cy="546560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he-IL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7666" y="2775659"/>
                  <a:ext cx="269626" cy="54656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r="-65909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8102081" y="4072500"/>
                <a:ext cx="248786" cy="40312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081" y="4072500"/>
                <a:ext cx="248786" cy="403124"/>
              </a:xfrm>
              <a:prstGeom prst="rect">
                <a:avLst/>
              </a:prstGeom>
              <a:blipFill rotWithShape="0">
                <a:blip r:embed="rId8"/>
                <a:stretch>
                  <a:fillRect r="-365854" b="-1515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קבוצה 45"/>
          <p:cNvGrpSpPr/>
          <p:nvPr/>
        </p:nvGrpSpPr>
        <p:grpSpPr>
          <a:xfrm>
            <a:off x="6439766" y="3240807"/>
            <a:ext cx="4675319" cy="847869"/>
            <a:chOff x="6439766" y="3240807"/>
            <a:chExt cx="4675319" cy="8478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8102081" y="3655609"/>
                  <a:ext cx="248786" cy="43306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2081" y="3655609"/>
                  <a:ext cx="248786" cy="433067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t="-19718" r="-570732" b="-1408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6439766" y="3240807"/>
                  <a:ext cx="4675319" cy="404791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r>
                    <a:rPr lang="he-IL" dirty="0"/>
                    <a:t>נבטא את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he-IL" dirty="0"/>
                    <a:t> בעזרת סכום היטליו על </a:t>
                  </a:r>
                  <a:r>
                    <a:rPr lang="he-IL" dirty="0" err="1"/>
                    <a:t>וקטורי</a:t>
                  </a:r>
                  <a:r>
                    <a:rPr lang="he-IL" dirty="0"/>
                    <a:t> הבסיס:</a:t>
                  </a:r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9766" y="3240807"/>
                  <a:ext cx="4675319" cy="404791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l="-261" t="-21212" r="-1173" b="-24242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קבוצה 53"/>
          <p:cNvGrpSpPr/>
          <p:nvPr/>
        </p:nvGrpSpPr>
        <p:grpSpPr>
          <a:xfrm>
            <a:off x="3127002" y="5206621"/>
            <a:ext cx="8581195" cy="976656"/>
            <a:chOff x="3127002" y="5206621"/>
            <a:chExt cx="8581195" cy="976656"/>
          </a:xfrm>
        </p:grpSpPr>
        <p:sp>
          <p:nvSpPr>
            <p:cNvPr id="47" name="TextBox 46"/>
            <p:cNvSpPr txBox="1"/>
            <p:nvPr/>
          </p:nvSpPr>
          <p:spPr>
            <a:xfrm>
              <a:off x="3127002" y="5206621"/>
              <a:ext cx="8581195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dirty="0"/>
                <a:t>דרך נוספת לכתוב וקטורים היא בעזרת רכיביהם בלבד (הבסיס מבוטא בצורה מרומזת בסוגריים)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8071659" y="5750210"/>
                  <a:ext cx="248786" cy="43306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1659" y="5750210"/>
                  <a:ext cx="248786" cy="433067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t="-19718" r="-480488" b="-7042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9415916" y="5667672"/>
                <a:ext cx="248786" cy="63927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916" y="5667672"/>
                <a:ext cx="248786" cy="639278"/>
              </a:xfrm>
              <a:prstGeom prst="rect">
                <a:avLst/>
              </a:prstGeom>
              <a:blipFill rotWithShape="0">
                <a:blip r:embed="rId12"/>
                <a:stretch>
                  <a:fillRect r="-230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1687504" y="6356350"/>
            <a:ext cx="10020693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600" dirty="0"/>
              <a:t>*</a:t>
            </a:r>
            <a:r>
              <a:rPr lang="en-US" sz="1600" dirty="0"/>
              <a:t> </a:t>
            </a:r>
            <a:r>
              <a:rPr lang="he-IL" sz="1600" dirty="0"/>
              <a:t>נוכל להכליל את הבסיס </a:t>
            </a:r>
            <a:r>
              <a:rPr lang="he-IL" sz="1600" dirty="0" err="1"/>
              <a:t>הקרטזי</a:t>
            </a:r>
            <a:r>
              <a:rPr lang="he-IL" sz="1600" dirty="0"/>
              <a:t> </a:t>
            </a:r>
            <a:r>
              <a:rPr lang="he-IL" sz="1600" dirty="0" err="1"/>
              <a:t>למימדים</a:t>
            </a:r>
            <a:r>
              <a:rPr lang="he-IL" sz="1600" dirty="0"/>
              <a:t> גבוהים יותר ע"י הוספת </a:t>
            </a:r>
            <a:r>
              <a:rPr lang="he-IL" sz="1600" dirty="0" err="1"/>
              <a:t>וקטורי</a:t>
            </a:r>
            <a:r>
              <a:rPr lang="he-IL" sz="1600" dirty="0"/>
              <a:t> בסיס </a:t>
            </a:r>
            <a:r>
              <a:rPr lang="he-IL" sz="1600" dirty="0" err="1"/>
              <a:t>שאורתוגונלים</a:t>
            </a:r>
            <a:r>
              <a:rPr lang="he-IL" sz="1600" dirty="0"/>
              <a:t> לאילו שקיימים (וגם אחד לשני) </a:t>
            </a:r>
          </a:p>
        </p:txBody>
      </p:sp>
    </p:spTree>
    <p:extLst>
      <p:ext uri="{BB962C8B-B14F-4D97-AF65-F5344CB8AC3E}">
        <p14:creationId xmlns:p14="http://schemas.microsoft.com/office/powerpoint/2010/main" val="286160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53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he-IL" dirty="0"/>
                  <a:t>נתונים שני וקטורים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  <a:p>
                <a:r>
                  <a:rPr lang="he-IL" u="sng" dirty="0"/>
                  <a:t>חיבור וקטורים</a:t>
                </a:r>
              </a:p>
              <a:p>
                <a:pPr marL="0" indent="0">
                  <a:buNone/>
                </a:pPr>
                <a:r>
                  <a:rPr lang="he-IL" dirty="0"/>
                  <a:t>כדי לחבר וקטורים צריך לסכום את הרכיבים שלהם בנפרד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 r="-11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386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סכום וקטורים - דוגמא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11</a:t>
            </a:fld>
            <a:endParaRPr lang="he-IL"/>
          </a:p>
        </p:txBody>
      </p:sp>
      <p:grpSp>
        <p:nvGrpSpPr>
          <p:cNvPr id="21" name="קבוצה 20"/>
          <p:cNvGrpSpPr/>
          <p:nvPr/>
        </p:nvGrpSpPr>
        <p:grpSpPr>
          <a:xfrm>
            <a:off x="2931403" y="1852077"/>
            <a:ext cx="3290814" cy="3120570"/>
            <a:chOff x="2931403" y="1852077"/>
            <a:chExt cx="3290814" cy="3120570"/>
          </a:xfrm>
        </p:grpSpPr>
        <p:grpSp>
          <p:nvGrpSpPr>
            <p:cNvPr id="5" name="קבוצה 4"/>
            <p:cNvGrpSpPr/>
            <p:nvPr/>
          </p:nvGrpSpPr>
          <p:grpSpPr>
            <a:xfrm>
              <a:off x="2931403" y="1852077"/>
              <a:ext cx="3290814" cy="3120570"/>
              <a:chOff x="3055535" y="1663392"/>
              <a:chExt cx="3290814" cy="3120570"/>
            </a:xfrm>
          </p:grpSpPr>
          <p:cxnSp>
            <p:nvCxnSpPr>
              <p:cNvPr id="6" name="מחבר חץ ישר 5"/>
              <p:cNvCxnSpPr/>
              <p:nvPr/>
            </p:nvCxnSpPr>
            <p:spPr>
              <a:xfrm flipV="1">
                <a:off x="3179928" y="2074460"/>
                <a:ext cx="13648" cy="252483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מחבר חץ ישר 6"/>
              <p:cNvCxnSpPr/>
              <p:nvPr/>
            </p:nvCxnSpPr>
            <p:spPr>
              <a:xfrm>
                <a:off x="3179928" y="4599296"/>
                <a:ext cx="290697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3055535" y="1663392"/>
                    <a:ext cx="2487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he-IL" dirty="0"/>
                  </a:p>
                </p:txBody>
              </p:sp>
            </mc:Choice>
            <mc:Fallback xmlns="">
              <p:sp>
                <p:nvSpPr>
                  <p:cNvPr id="10" name="TextBox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55535" y="1663392"/>
                    <a:ext cx="248786" cy="369332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 r="-21951" b="-8333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6097563" y="4414630"/>
                    <a:ext cx="2487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he-IL" dirty="0"/>
                  </a:p>
                </p:txBody>
              </p:sp>
            </mc:Choice>
            <mc:Fallback xmlns="">
              <p:sp>
                <p:nvSpPr>
                  <p:cNvPr id="11" name="TextBox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7563" y="4414630"/>
                    <a:ext cx="248786" cy="369332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r="-9756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" name="מחבר חץ ישר 10"/>
            <p:cNvCxnSpPr/>
            <p:nvPr/>
          </p:nvCxnSpPr>
          <p:spPr>
            <a:xfrm flipV="1">
              <a:off x="3062620" y="3251200"/>
              <a:ext cx="518780" cy="15367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463831" y="2855932"/>
                  <a:ext cx="248786" cy="40312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he-IL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3831" y="2855932"/>
                  <a:ext cx="248786" cy="40312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t="-20896" r="-41463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מחבר חץ ישר 13"/>
            <p:cNvCxnSpPr/>
            <p:nvPr/>
          </p:nvCxnSpPr>
          <p:spPr>
            <a:xfrm flipV="1">
              <a:off x="3062620" y="4383314"/>
              <a:ext cx="914294" cy="40466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3976914" y="4065638"/>
                  <a:ext cx="248786" cy="40312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he-IL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914" y="4065638"/>
                  <a:ext cx="248786" cy="40312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r="-31707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" name="מחבר ישר 17"/>
          <p:cNvCxnSpPr/>
          <p:nvPr/>
        </p:nvCxnSpPr>
        <p:spPr>
          <a:xfrm>
            <a:off x="3581400" y="3365953"/>
            <a:ext cx="6824" cy="1422028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מחבר ישר 16"/>
          <p:cNvCxnSpPr/>
          <p:nvPr/>
        </p:nvCxnSpPr>
        <p:spPr>
          <a:xfrm>
            <a:off x="3933372" y="4468762"/>
            <a:ext cx="0" cy="319219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מחבר חץ ישר 22"/>
          <p:cNvCxnSpPr/>
          <p:nvPr/>
        </p:nvCxnSpPr>
        <p:spPr>
          <a:xfrm>
            <a:off x="3055796" y="4787981"/>
            <a:ext cx="5324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מחבר חץ ישר 24"/>
          <p:cNvCxnSpPr/>
          <p:nvPr/>
        </p:nvCxnSpPr>
        <p:spPr>
          <a:xfrm>
            <a:off x="3055796" y="4831523"/>
            <a:ext cx="87757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מחבר ישר 26"/>
          <p:cNvCxnSpPr/>
          <p:nvPr/>
        </p:nvCxnSpPr>
        <p:spPr>
          <a:xfrm flipH="1">
            <a:off x="3045134" y="4399189"/>
            <a:ext cx="888238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מחבר ישר 28"/>
          <p:cNvCxnSpPr/>
          <p:nvPr/>
        </p:nvCxnSpPr>
        <p:spPr>
          <a:xfrm rot="-60000" flipH="1" flipV="1">
            <a:off x="3062620" y="3287631"/>
            <a:ext cx="483856" cy="8019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מחבר חץ ישר 32"/>
          <p:cNvCxnSpPr/>
          <p:nvPr/>
        </p:nvCxnSpPr>
        <p:spPr>
          <a:xfrm flipV="1">
            <a:off x="3045134" y="3283409"/>
            <a:ext cx="10662" cy="1504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מחבר חץ ישר 34"/>
          <p:cNvCxnSpPr/>
          <p:nvPr/>
        </p:nvCxnSpPr>
        <p:spPr>
          <a:xfrm flipV="1">
            <a:off x="3007034" y="4399189"/>
            <a:ext cx="0" cy="3887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78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סכום וקטורים - דוגמא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12</a:t>
            </a:fld>
            <a:endParaRPr lang="he-IL"/>
          </a:p>
        </p:txBody>
      </p:sp>
      <p:grpSp>
        <p:nvGrpSpPr>
          <p:cNvPr id="21" name="קבוצה 20"/>
          <p:cNvGrpSpPr/>
          <p:nvPr/>
        </p:nvGrpSpPr>
        <p:grpSpPr>
          <a:xfrm>
            <a:off x="2931403" y="1852077"/>
            <a:ext cx="3290814" cy="3120570"/>
            <a:chOff x="2931403" y="1852077"/>
            <a:chExt cx="3290814" cy="3120570"/>
          </a:xfrm>
        </p:grpSpPr>
        <p:grpSp>
          <p:nvGrpSpPr>
            <p:cNvPr id="5" name="קבוצה 4"/>
            <p:cNvGrpSpPr/>
            <p:nvPr/>
          </p:nvGrpSpPr>
          <p:grpSpPr>
            <a:xfrm>
              <a:off x="2931403" y="1852077"/>
              <a:ext cx="3290814" cy="3120570"/>
              <a:chOff x="3055535" y="1663392"/>
              <a:chExt cx="3290814" cy="3120570"/>
            </a:xfrm>
          </p:grpSpPr>
          <p:cxnSp>
            <p:nvCxnSpPr>
              <p:cNvPr id="6" name="מחבר חץ ישר 5"/>
              <p:cNvCxnSpPr/>
              <p:nvPr/>
            </p:nvCxnSpPr>
            <p:spPr>
              <a:xfrm flipV="1">
                <a:off x="3179928" y="2074460"/>
                <a:ext cx="13648" cy="252483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מחבר חץ ישר 6"/>
              <p:cNvCxnSpPr/>
              <p:nvPr/>
            </p:nvCxnSpPr>
            <p:spPr>
              <a:xfrm>
                <a:off x="3179928" y="4599296"/>
                <a:ext cx="290697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3055535" y="1663392"/>
                    <a:ext cx="2487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he-IL" dirty="0"/>
                  </a:p>
                </p:txBody>
              </p:sp>
            </mc:Choice>
            <mc:Fallback xmlns="">
              <p:sp>
                <p:nvSpPr>
                  <p:cNvPr id="8" name="TextBox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55535" y="1663392"/>
                    <a:ext cx="248786" cy="369332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 r="-21951" b="-8333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6097563" y="4414630"/>
                    <a:ext cx="2487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he-IL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7563" y="4414630"/>
                    <a:ext cx="248786" cy="369332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r="-9756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" name="מחבר חץ ישר 10"/>
            <p:cNvCxnSpPr/>
            <p:nvPr/>
          </p:nvCxnSpPr>
          <p:spPr>
            <a:xfrm flipV="1">
              <a:off x="3062620" y="3251200"/>
              <a:ext cx="518780" cy="15367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463831" y="2855932"/>
                  <a:ext cx="248786" cy="40312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he-IL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3831" y="2855932"/>
                  <a:ext cx="248786" cy="40312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t="-20896" r="-41463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מחבר חץ ישר 13"/>
            <p:cNvCxnSpPr/>
            <p:nvPr/>
          </p:nvCxnSpPr>
          <p:spPr>
            <a:xfrm flipV="1">
              <a:off x="3062620" y="4383314"/>
              <a:ext cx="914294" cy="40466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3976914" y="4065638"/>
                  <a:ext cx="248786" cy="40312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he-IL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914" y="4065638"/>
                  <a:ext cx="248786" cy="40312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r="-31707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" name="מחבר ישר 17"/>
          <p:cNvCxnSpPr/>
          <p:nvPr/>
        </p:nvCxnSpPr>
        <p:spPr>
          <a:xfrm>
            <a:off x="3581400" y="3365953"/>
            <a:ext cx="6824" cy="1422028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מחבר ישר 16"/>
          <p:cNvCxnSpPr/>
          <p:nvPr/>
        </p:nvCxnSpPr>
        <p:spPr>
          <a:xfrm>
            <a:off x="3933372" y="4468762"/>
            <a:ext cx="0" cy="319219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מחבר חץ ישר 22"/>
          <p:cNvCxnSpPr/>
          <p:nvPr/>
        </p:nvCxnSpPr>
        <p:spPr>
          <a:xfrm>
            <a:off x="3055796" y="4787981"/>
            <a:ext cx="5324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מחבר חץ ישר 24"/>
          <p:cNvCxnSpPr/>
          <p:nvPr/>
        </p:nvCxnSpPr>
        <p:spPr>
          <a:xfrm>
            <a:off x="3055796" y="4831523"/>
            <a:ext cx="87757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מחבר ישר 26"/>
          <p:cNvCxnSpPr/>
          <p:nvPr/>
        </p:nvCxnSpPr>
        <p:spPr>
          <a:xfrm flipH="1">
            <a:off x="3045134" y="4399189"/>
            <a:ext cx="888238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מחבר ישר 28"/>
          <p:cNvCxnSpPr/>
          <p:nvPr/>
        </p:nvCxnSpPr>
        <p:spPr>
          <a:xfrm rot="-60000" flipH="1" flipV="1">
            <a:off x="3062620" y="3287631"/>
            <a:ext cx="483856" cy="8019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מחבר חץ ישר 32"/>
          <p:cNvCxnSpPr/>
          <p:nvPr/>
        </p:nvCxnSpPr>
        <p:spPr>
          <a:xfrm flipV="1">
            <a:off x="3045134" y="3283409"/>
            <a:ext cx="10662" cy="1504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מחבר חץ ישר 34"/>
          <p:cNvCxnSpPr/>
          <p:nvPr/>
        </p:nvCxnSpPr>
        <p:spPr>
          <a:xfrm flipV="1">
            <a:off x="3007034" y="4399189"/>
            <a:ext cx="0" cy="3887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חץ ישר 21"/>
          <p:cNvCxnSpPr/>
          <p:nvPr/>
        </p:nvCxnSpPr>
        <p:spPr>
          <a:xfrm flipV="1">
            <a:off x="3055796" y="2855932"/>
            <a:ext cx="0" cy="3887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מחבר חץ ישר 23"/>
          <p:cNvCxnSpPr/>
          <p:nvPr/>
        </p:nvCxnSpPr>
        <p:spPr>
          <a:xfrm>
            <a:off x="3588224" y="4787981"/>
            <a:ext cx="87757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ישר 9"/>
          <p:cNvCxnSpPr/>
          <p:nvPr/>
        </p:nvCxnSpPr>
        <p:spPr>
          <a:xfrm>
            <a:off x="3062586" y="2855932"/>
            <a:ext cx="1335242" cy="0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מחבר ישר 18"/>
          <p:cNvCxnSpPr/>
          <p:nvPr/>
        </p:nvCxnSpPr>
        <p:spPr>
          <a:xfrm flipV="1">
            <a:off x="4397828" y="2855932"/>
            <a:ext cx="0" cy="1932049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מחבר חץ ישר 27"/>
          <p:cNvCxnSpPr/>
          <p:nvPr/>
        </p:nvCxnSpPr>
        <p:spPr>
          <a:xfrm flipV="1">
            <a:off x="3055796" y="2855932"/>
            <a:ext cx="1342032" cy="19320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155831" y="2494928"/>
                <a:ext cx="248786" cy="40312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he-IL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831" y="2494928"/>
                <a:ext cx="248786" cy="403124"/>
              </a:xfrm>
              <a:prstGeom prst="rect">
                <a:avLst/>
              </a:prstGeom>
              <a:blipFill rotWithShape="0">
                <a:blip r:embed="rId6"/>
                <a:stretch>
                  <a:fillRect t="-21212" r="-1975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28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מחבר חץ ישר 33"/>
          <p:cNvCxnSpPr/>
          <p:nvPr/>
        </p:nvCxnSpPr>
        <p:spPr>
          <a:xfrm flipV="1">
            <a:off x="3928280" y="2858488"/>
            <a:ext cx="456381" cy="154070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מחבר חץ ישר 31"/>
          <p:cNvCxnSpPr/>
          <p:nvPr/>
        </p:nvCxnSpPr>
        <p:spPr>
          <a:xfrm flipV="1">
            <a:off x="3581400" y="2869884"/>
            <a:ext cx="809604" cy="40201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סכום וקטורים - דוגמא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13</a:t>
            </a:fld>
            <a:endParaRPr lang="he-IL"/>
          </a:p>
        </p:txBody>
      </p:sp>
      <p:grpSp>
        <p:nvGrpSpPr>
          <p:cNvPr id="5" name="קבוצה 4"/>
          <p:cNvGrpSpPr/>
          <p:nvPr/>
        </p:nvGrpSpPr>
        <p:grpSpPr>
          <a:xfrm>
            <a:off x="2931403" y="1852077"/>
            <a:ext cx="3290814" cy="3120570"/>
            <a:chOff x="3055535" y="1663392"/>
            <a:chExt cx="3290814" cy="3120570"/>
          </a:xfrm>
        </p:grpSpPr>
        <p:cxnSp>
          <p:nvCxnSpPr>
            <p:cNvPr id="6" name="מחבר חץ ישר 5"/>
            <p:cNvCxnSpPr/>
            <p:nvPr/>
          </p:nvCxnSpPr>
          <p:spPr>
            <a:xfrm flipV="1">
              <a:off x="3179928" y="2074460"/>
              <a:ext cx="13648" cy="25248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מחבר חץ ישר 6"/>
            <p:cNvCxnSpPr/>
            <p:nvPr/>
          </p:nvCxnSpPr>
          <p:spPr>
            <a:xfrm>
              <a:off x="3179928" y="4599296"/>
              <a:ext cx="290697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3055535" y="166339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5535" y="1663392"/>
                  <a:ext cx="248786" cy="369332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r="-21951" b="-8333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6097563" y="4414630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7563" y="4414630"/>
                  <a:ext cx="248786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r="-9756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" name="מחבר חץ ישר 10"/>
          <p:cNvCxnSpPr/>
          <p:nvPr/>
        </p:nvCxnSpPr>
        <p:spPr>
          <a:xfrm flipV="1">
            <a:off x="3062620" y="3251200"/>
            <a:ext cx="518780" cy="1536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463831" y="2855932"/>
                <a:ext cx="248786" cy="40312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he-IL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831" y="2855932"/>
                <a:ext cx="248786" cy="403124"/>
              </a:xfrm>
              <a:prstGeom prst="rect">
                <a:avLst/>
              </a:prstGeom>
              <a:blipFill rotWithShape="0">
                <a:blip r:embed="rId4"/>
                <a:stretch>
                  <a:fillRect t="-20896" r="-4146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מחבר חץ ישר 13"/>
          <p:cNvCxnSpPr/>
          <p:nvPr/>
        </p:nvCxnSpPr>
        <p:spPr>
          <a:xfrm flipV="1">
            <a:off x="3062620" y="4383314"/>
            <a:ext cx="914294" cy="4046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976914" y="4065638"/>
                <a:ext cx="248786" cy="40312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914" y="4065638"/>
                <a:ext cx="248786" cy="403124"/>
              </a:xfrm>
              <a:prstGeom prst="rect">
                <a:avLst/>
              </a:prstGeom>
              <a:blipFill rotWithShape="0">
                <a:blip r:embed="rId5"/>
                <a:stretch>
                  <a:fillRect r="-3170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מחבר ישר 17"/>
          <p:cNvCxnSpPr/>
          <p:nvPr/>
        </p:nvCxnSpPr>
        <p:spPr>
          <a:xfrm>
            <a:off x="3581400" y="3365953"/>
            <a:ext cx="6824" cy="1422028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מחבר ישר 16"/>
          <p:cNvCxnSpPr/>
          <p:nvPr/>
        </p:nvCxnSpPr>
        <p:spPr>
          <a:xfrm>
            <a:off x="3933372" y="4468762"/>
            <a:ext cx="0" cy="319219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מחבר חץ ישר 22"/>
          <p:cNvCxnSpPr/>
          <p:nvPr/>
        </p:nvCxnSpPr>
        <p:spPr>
          <a:xfrm>
            <a:off x="3055796" y="4787981"/>
            <a:ext cx="5324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מחבר חץ ישר 24"/>
          <p:cNvCxnSpPr/>
          <p:nvPr/>
        </p:nvCxnSpPr>
        <p:spPr>
          <a:xfrm>
            <a:off x="3055796" y="4831523"/>
            <a:ext cx="87757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מחבר ישר 26"/>
          <p:cNvCxnSpPr/>
          <p:nvPr/>
        </p:nvCxnSpPr>
        <p:spPr>
          <a:xfrm flipH="1">
            <a:off x="3045134" y="4399189"/>
            <a:ext cx="888238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מחבר ישר 28"/>
          <p:cNvCxnSpPr/>
          <p:nvPr/>
        </p:nvCxnSpPr>
        <p:spPr>
          <a:xfrm rot="-60000" flipH="1" flipV="1">
            <a:off x="3062620" y="3287631"/>
            <a:ext cx="483856" cy="8019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מחבר חץ ישר 32"/>
          <p:cNvCxnSpPr/>
          <p:nvPr/>
        </p:nvCxnSpPr>
        <p:spPr>
          <a:xfrm flipV="1">
            <a:off x="3045134" y="3283409"/>
            <a:ext cx="10662" cy="1504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מחבר חץ ישר 34"/>
          <p:cNvCxnSpPr/>
          <p:nvPr/>
        </p:nvCxnSpPr>
        <p:spPr>
          <a:xfrm flipV="1">
            <a:off x="3007034" y="4399189"/>
            <a:ext cx="0" cy="3887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חץ ישר 21"/>
          <p:cNvCxnSpPr/>
          <p:nvPr/>
        </p:nvCxnSpPr>
        <p:spPr>
          <a:xfrm flipV="1">
            <a:off x="3055796" y="2855932"/>
            <a:ext cx="0" cy="3887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מחבר חץ ישר 23"/>
          <p:cNvCxnSpPr/>
          <p:nvPr/>
        </p:nvCxnSpPr>
        <p:spPr>
          <a:xfrm>
            <a:off x="3588224" y="4787981"/>
            <a:ext cx="87757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ישר 9"/>
          <p:cNvCxnSpPr/>
          <p:nvPr/>
        </p:nvCxnSpPr>
        <p:spPr>
          <a:xfrm>
            <a:off x="3062586" y="2855932"/>
            <a:ext cx="1335242" cy="0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מחבר ישר 18"/>
          <p:cNvCxnSpPr/>
          <p:nvPr/>
        </p:nvCxnSpPr>
        <p:spPr>
          <a:xfrm flipV="1">
            <a:off x="4397828" y="2855932"/>
            <a:ext cx="0" cy="1932049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מחבר חץ ישר 27"/>
          <p:cNvCxnSpPr/>
          <p:nvPr/>
        </p:nvCxnSpPr>
        <p:spPr>
          <a:xfrm flipV="1">
            <a:off x="3055796" y="2855932"/>
            <a:ext cx="1342032" cy="19320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155831" y="2494928"/>
                <a:ext cx="248786" cy="40312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he-IL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831" y="2494928"/>
                <a:ext cx="248786" cy="403124"/>
              </a:xfrm>
              <a:prstGeom prst="rect">
                <a:avLst/>
              </a:prstGeom>
              <a:blipFill rotWithShape="0">
                <a:blip r:embed="rId6"/>
                <a:stretch>
                  <a:fillRect t="-21212" r="-1975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6352368" y="5524500"/>
            <a:ext cx="481093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/>
              <a:t>וזה כלל המקבילית עבור חיבור גאומטרי של וקטורים!</a:t>
            </a:r>
          </a:p>
        </p:txBody>
      </p:sp>
    </p:spTree>
    <p:extLst>
      <p:ext uri="{BB962C8B-B14F-4D97-AF65-F5344CB8AC3E}">
        <p14:creationId xmlns:p14="http://schemas.microsoft.com/office/powerpoint/2010/main" val="159489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e-IL" u="sng" dirty="0"/>
                  <a:t>חיסור וקטורים</a:t>
                </a:r>
              </a:p>
              <a:p>
                <a:pPr marL="0" indent="0">
                  <a:buNone/>
                </a:pPr>
                <a:endParaRPr lang="he-IL" u="sng" dirty="0"/>
              </a:p>
              <a:p>
                <a:pPr marL="0" indent="0">
                  <a:buNone/>
                </a:pPr>
                <a:r>
                  <a:rPr lang="he-IL" dirty="0"/>
                  <a:t>כדי לחסר וקטורים צריך את הפרש הרכיבים שלהם בנפרד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וקטור עם סימן שלילי נשאר באותו הגודל אבל הופך את הכיוון</a:t>
                </a:r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 r="-11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14</a:t>
            </a:fld>
            <a:endParaRPr lang="he-IL"/>
          </a:p>
        </p:txBody>
      </p:sp>
      <p:cxnSp>
        <p:nvCxnSpPr>
          <p:cNvPr id="6" name="מחבר חץ ישר 5"/>
          <p:cNvCxnSpPr/>
          <p:nvPr/>
        </p:nvCxnSpPr>
        <p:spPr>
          <a:xfrm>
            <a:off x="6134100" y="5384800"/>
            <a:ext cx="14478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685414" y="4981676"/>
                <a:ext cx="248786" cy="40312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414" y="4981676"/>
                <a:ext cx="248786" cy="403124"/>
              </a:xfrm>
              <a:prstGeom prst="rect">
                <a:avLst/>
              </a:prstGeom>
              <a:blipFill rotWithShape="0">
                <a:blip r:embed="rId3"/>
                <a:stretch>
                  <a:fillRect r="-2926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מחבר חץ ישר 8"/>
          <p:cNvCxnSpPr/>
          <p:nvPr/>
        </p:nvCxnSpPr>
        <p:spPr>
          <a:xfrm rot="10800000">
            <a:off x="4648200" y="5384800"/>
            <a:ext cx="14478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224914" y="4981676"/>
                <a:ext cx="248786" cy="40312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914" y="4981676"/>
                <a:ext cx="248786" cy="403124"/>
              </a:xfrm>
              <a:prstGeom prst="rect">
                <a:avLst/>
              </a:prstGeom>
              <a:blipFill rotWithShape="0">
                <a:blip r:embed="rId4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336607" y="5727109"/>
                <a:ext cx="248786" cy="42518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6607" y="5727109"/>
                <a:ext cx="248786" cy="425181"/>
              </a:xfrm>
              <a:prstGeom prst="rect">
                <a:avLst/>
              </a:prstGeom>
              <a:blipFill rotWithShape="0">
                <a:blip r:embed="rId5"/>
                <a:stretch>
                  <a:fillRect r="-412195" b="-857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885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e-IL" u="sng" dirty="0"/>
                  <a:t>כפל בסקלר (בבסיס </a:t>
                </a:r>
                <a:r>
                  <a:rPr lang="he-IL" u="sng" dirty="0" err="1"/>
                  <a:t>קרטזי</a:t>
                </a:r>
                <a:r>
                  <a:rPr lang="he-IL" u="sng" dirty="0"/>
                  <a:t>)</a:t>
                </a:r>
              </a:p>
              <a:p>
                <a:r>
                  <a:rPr lang="he-IL" dirty="0"/>
                  <a:t>נניח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, מספר כלשהו עם יחידות (סקלר)</a:t>
                </a:r>
              </a:p>
              <a:p>
                <a:pPr marL="0" indent="0" algn="ctr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dirty="0"/>
              </a:p>
              <a:p>
                <a:r>
                  <a:rPr lang="he-IL" dirty="0"/>
                  <a:t>כפל של וקטור בסקלר משנה את הגודל אבל לא את הכיוון (כל עוד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he-IL" dirty="0"/>
                  <a:t>)</a:t>
                </a:r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 r="-10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15</a:t>
            </a:fld>
            <a:endParaRPr lang="he-IL"/>
          </a:p>
        </p:txBody>
      </p:sp>
      <p:cxnSp>
        <p:nvCxnSpPr>
          <p:cNvPr id="12" name="מחבר חץ ישר 11"/>
          <p:cNvCxnSpPr/>
          <p:nvPr/>
        </p:nvCxnSpPr>
        <p:spPr>
          <a:xfrm flipV="1">
            <a:off x="3941168" y="5467698"/>
            <a:ext cx="1118197" cy="844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151761" y="5332761"/>
                <a:ext cx="146299" cy="276106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he-IL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61" y="5332761"/>
                <a:ext cx="146299" cy="276106"/>
              </a:xfrm>
              <a:prstGeom prst="rect">
                <a:avLst/>
              </a:prstGeom>
              <a:blipFill rotWithShape="0">
                <a:blip r:embed="rId3"/>
                <a:stretch>
                  <a:fillRect r="-87500" b="-4222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מחבר חץ ישר 13"/>
          <p:cNvCxnSpPr/>
          <p:nvPr/>
        </p:nvCxnSpPr>
        <p:spPr>
          <a:xfrm flipV="1">
            <a:off x="6148634" y="4889500"/>
            <a:ext cx="1884055" cy="142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604200" y="5164953"/>
                <a:ext cx="269626" cy="508857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acc>
                        <m:accPr>
                          <m:chr m:val="⃗"/>
                          <m:ctrlP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he-IL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200" y="5164953"/>
                <a:ext cx="269626" cy="508857"/>
              </a:xfrm>
              <a:prstGeom prst="rect">
                <a:avLst/>
              </a:prstGeom>
              <a:blipFill rotWithShape="0">
                <a:blip r:embed="rId4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213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סקלרית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he-IL" u="sng" dirty="0"/>
                  <a:t>מכפלה </a:t>
                </a:r>
                <a:r>
                  <a:rPr lang="he-IL" u="sng" dirty="0" err="1"/>
                  <a:t>סקלרית</a:t>
                </a:r>
                <a:r>
                  <a:rPr lang="he-IL" u="sng" dirty="0"/>
                  <a:t> (פנימית)</a:t>
                </a:r>
              </a:p>
              <a:p>
                <a:pPr>
                  <a:lnSpc>
                    <a:spcPct val="100000"/>
                  </a:lnSpc>
                </a:pPr>
                <a:r>
                  <a:rPr lang="he-IL" dirty="0"/>
                  <a:t>מכפלה של וקטור </a:t>
                </a:r>
                <a:r>
                  <a:rPr lang="he-IL" dirty="0" err="1"/>
                  <a:t>בוקטור</a:t>
                </a:r>
                <a:r>
                  <a:rPr lang="he-IL" dirty="0"/>
                  <a:t> שהתוצאה שלה היא סקלר.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  <a:p>
                <a:pPr>
                  <a:lnSpc>
                    <a:spcPct val="100000"/>
                  </a:lnSpc>
                </a:pPr>
                <a:r>
                  <a:rPr lang="he-IL" dirty="0"/>
                  <a:t>מהביטוי הימני ביותר אפשר לראות שהמכפלה </a:t>
                </a:r>
                <a:r>
                  <a:rPr lang="he-IL" dirty="0" err="1"/>
                  <a:t>הסקלרית</a:t>
                </a:r>
                <a:r>
                  <a:rPr lang="he-IL" dirty="0"/>
                  <a:t> חילופית (קומוטטיבית)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401" r="-10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16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9832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מחבר ישר 12"/>
          <p:cNvCxnSpPr/>
          <p:nvPr/>
        </p:nvCxnSpPr>
        <p:spPr>
          <a:xfrm flipH="1" flipV="1">
            <a:off x="6111549" y="5253039"/>
            <a:ext cx="284490" cy="809627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מחבר ישר 17"/>
          <p:cNvCxnSpPr/>
          <p:nvPr/>
        </p:nvCxnSpPr>
        <p:spPr>
          <a:xfrm flipH="1" flipV="1">
            <a:off x="5934075" y="5800725"/>
            <a:ext cx="621506" cy="188119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סקלרית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he-IL" dirty="0"/>
                  <a:t>נראה שלמכפלה </a:t>
                </a:r>
                <a:r>
                  <a:rPr lang="he-IL" dirty="0" err="1"/>
                  <a:t>הסקלרית</a:t>
                </a:r>
                <a:r>
                  <a:rPr lang="he-IL" dirty="0"/>
                  <a:t> יש גם אינטרפרטציה גאומטרית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he-IL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=|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he-IL" dirty="0"/>
                  <a:t>כאשר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he-IL" dirty="0"/>
                  <a:t> הזווית בין שני </a:t>
                </a:r>
                <a:r>
                  <a:rPr lang="he-IL" dirty="0" err="1"/>
                  <a:t>הוקטורים</a:t>
                </a:r>
                <a:endParaRPr lang="he-IL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he-IL" dirty="0"/>
                  <a:t>והמכפלה </a:t>
                </a:r>
                <a:r>
                  <a:rPr lang="he-IL" dirty="0" err="1"/>
                  <a:t>הסקלרית</a:t>
                </a:r>
                <a:r>
                  <a:rPr lang="he-IL" dirty="0"/>
                  <a:t> היא מכפלת ההיטל של </a:t>
                </a:r>
                <a:r>
                  <a:rPr lang="he-IL" dirty="0" err="1"/>
                  <a:t>הוקטורים</a:t>
                </a:r>
                <a:r>
                  <a:rPr lang="he-IL" dirty="0"/>
                  <a:t> אחד על השני</a:t>
                </a:r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401" r="-11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17</a:t>
            </a:fld>
            <a:endParaRPr lang="he-IL"/>
          </a:p>
        </p:txBody>
      </p:sp>
      <p:grpSp>
        <p:nvGrpSpPr>
          <p:cNvPr id="10" name="קבוצה 9"/>
          <p:cNvGrpSpPr/>
          <p:nvPr/>
        </p:nvGrpSpPr>
        <p:grpSpPr>
          <a:xfrm>
            <a:off x="5735707" y="4424301"/>
            <a:ext cx="1163080" cy="1932049"/>
            <a:chOff x="2356634" y="4031589"/>
            <a:chExt cx="1163080" cy="1932049"/>
          </a:xfrm>
        </p:grpSpPr>
        <p:cxnSp>
          <p:nvCxnSpPr>
            <p:cNvPr id="5" name="מחבר חץ ישר 4"/>
            <p:cNvCxnSpPr/>
            <p:nvPr/>
          </p:nvCxnSpPr>
          <p:spPr>
            <a:xfrm flipV="1">
              <a:off x="2356634" y="4426857"/>
              <a:ext cx="518780" cy="15367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2757845" y="4031589"/>
                  <a:ext cx="248786" cy="40312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he-IL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7845" y="4031589"/>
                  <a:ext cx="248786" cy="40312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t="-21212" r="-41463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מחבר חץ ישר 6"/>
            <p:cNvCxnSpPr/>
            <p:nvPr/>
          </p:nvCxnSpPr>
          <p:spPr>
            <a:xfrm flipV="1">
              <a:off x="2356634" y="5558971"/>
              <a:ext cx="914294" cy="40466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3270928" y="5241295"/>
                  <a:ext cx="248786" cy="40312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he-IL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0928" y="5241295"/>
                  <a:ext cx="248786" cy="40312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r="-32500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קשת 8"/>
          <p:cNvSpPr/>
          <p:nvPr/>
        </p:nvSpPr>
        <p:spPr>
          <a:xfrm rot="415127">
            <a:off x="5588582" y="5878117"/>
            <a:ext cx="539202" cy="532544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012525" y="5586365"/>
                <a:ext cx="2487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525" y="5586365"/>
                <a:ext cx="248786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4878" r="-43902" b="-1311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457742" y="5358627"/>
                <a:ext cx="251928" cy="704039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7742" y="5358627"/>
                <a:ext cx="251928" cy="704039"/>
              </a:xfrm>
              <a:prstGeom prst="rect">
                <a:avLst/>
              </a:prstGeom>
              <a:blipFill rotWithShape="0">
                <a:blip r:embed="rId6"/>
                <a:stretch>
                  <a:fillRect t="-12069" r="-56666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9002917" y="5358627"/>
                <a:ext cx="251928" cy="704039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2917" y="5358627"/>
                <a:ext cx="251928" cy="704039"/>
              </a:xfrm>
              <a:prstGeom prst="rect">
                <a:avLst/>
              </a:prstGeom>
              <a:blipFill rotWithShape="0">
                <a:blip r:embed="rId7"/>
                <a:stretch>
                  <a:fillRect t="-12069" r="-58292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89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11" grpId="0"/>
      <p:bldP spid="19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סקלרית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/>
              <a:lstStyle/>
              <a:p>
                <a:r>
                  <a:rPr lang="he-IL" dirty="0"/>
                  <a:t>נשים לב שעבור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dirty="0"/>
                  <a:t> נקבל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he-IL" dirty="0"/>
              </a:p>
              <a:p>
                <a:pPr marL="0" indent="0" algn="ctr">
                  <a:buNone/>
                </a:pPr>
                <a:endParaRPr lang="en-US" b="0" dirty="0"/>
              </a:p>
              <a:p>
                <a:pPr marL="0" indent="0" algn="ctr">
                  <a:buNone/>
                </a:pPr>
                <a:endParaRPr lang="he-IL" dirty="0"/>
              </a:p>
              <a:p>
                <a:pPr marL="0" indent="0">
                  <a:buNone/>
                </a:pPr>
                <a:endParaRPr lang="he-IL" dirty="0"/>
              </a:p>
              <a:p>
                <a:pPr marL="0" indent="0">
                  <a:buNone/>
                </a:pPr>
                <a:r>
                  <a:rPr lang="he-IL" dirty="0"/>
                  <a:t>ולכן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ra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261" r="-11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18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320414" y="2400300"/>
                <a:ext cx="921886" cy="69794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he-I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he-IL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414" y="2400300"/>
                <a:ext cx="921886" cy="697948"/>
              </a:xfrm>
              <a:prstGeom prst="rect">
                <a:avLst/>
              </a:prstGeom>
              <a:blipFill rotWithShape="0">
                <a:blip r:embed="rId3"/>
                <a:stretch>
                  <a:fillRect r="-1258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מחבר חץ ישר 6"/>
          <p:cNvCxnSpPr/>
          <p:nvPr/>
        </p:nvCxnSpPr>
        <p:spPr>
          <a:xfrm flipV="1">
            <a:off x="7543800" y="2919896"/>
            <a:ext cx="0" cy="5746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93860" y="3494571"/>
            <a:ext cx="189988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/>
              <a:t>לפי משפט פיתגורס</a:t>
            </a:r>
          </a:p>
        </p:txBody>
      </p:sp>
      <p:grpSp>
        <p:nvGrpSpPr>
          <p:cNvPr id="26" name="קבוצה 25"/>
          <p:cNvGrpSpPr/>
          <p:nvPr/>
        </p:nvGrpSpPr>
        <p:grpSpPr>
          <a:xfrm>
            <a:off x="4561312" y="3225141"/>
            <a:ext cx="1569198" cy="1408941"/>
            <a:chOff x="4155813" y="3494571"/>
            <a:chExt cx="2449101" cy="2198982"/>
          </a:xfrm>
        </p:grpSpPr>
        <p:grpSp>
          <p:nvGrpSpPr>
            <p:cNvPr id="15" name="קבוצה 14"/>
            <p:cNvGrpSpPr/>
            <p:nvPr/>
          </p:nvGrpSpPr>
          <p:grpSpPr>
            <a:xfrm>
              <a:off x="4155813" y="3494571"/>
              <a:ext cx="2060812" cy="1555845"/>
              <a:chOff x="3179928" y="3043451"/>
              <a:chExt cx="2060812" cy="1555845"/>
            </a:xfrm>
          </p:grpSpPr>
          <p:cxnSp>
            <p:nvCxnSpPr>
              <p:cNvPr id="16" name="מחבר חץ ישר 15"/>
              <p:cNvCxnSpPr/>
              <p:nvPr/>
            </p:nvCxnSpPr>
            <p:spPr>
              <a:xfrm flipV="1">
                <a:off x="3179928" y="3043451"/>
                <a:ext cx="2060812" cy="15558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3512823" y="3209533"/>
                    <a:ext cx="410807" cy="740150"/>
                  </a:xfrm>
                  <a:prstGeom prst="rect">
                    <a:avLst/>
                  </a:prstGeom>
                  <a:noFill/>
                </p:spPr>
                <p:txBody>
                  <a:bodyPr wrap="non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US" sz="22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oMath>
                      </m:oMathPara>
                    </a14:m>
                    <a:endParaRPr lang="he-IL" sz="2200" dirty="0">
                      <a:solidFill>
                        <a:schemeClr val="accent1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TextBox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2823" y="3209533"/>
                    <a:ext cx="410807" cy="740150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r="-4651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0" name="מחבר חץ ישר 19"/>
            <p:cNvCxnSpPr/>
            <p:nvPr/>
          </p:nvCxnSpPr>
          <p:spPr>
            <a:xfrm>
              <a:off x="4169461" y="5050416"/>
              <a:ext cx="201287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4790760" y="5007643"/>
                  <a:ext cx="398296" cy="685910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he-IL" sz="2000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0760" y="5007643"/>
                  <a:ext cx="398296" cy="68591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r="-61905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מחבר חץ ישר 23"/>
            <p:cNvCxnSpPr/>
            <p:nvPr/>
          </p:nvCxnSpPr>
          <p:spPr>
            <a:xfrm flipV="1">
              <a:off x="6245035" y="3494571"/>
              <a:ext cx="0" cy="155584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6206618" y="3896231"/>
                  <a:ext cx="398296" cy="73474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he-IL" sz="2000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6618" y="3896231"/>
                  <a:ext cx="398296" cy="73474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r="-73810" b="-3846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מלבן 5"/>
          <p:cNvSpPr/>
          <p:nvPr/>
        </p:nvSpPr>
        <p:spPr>
          <a:xfrm>
            <a:off x="4968138" y="4953000"/>
            <a:ext cx="2352276" cy="1028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757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9" grpId="0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מלבן 12"/>
          <p:cNvSpPr/>
          <p:nvPr/>
        </p:nvSpPr>
        <p:spPr>
          <a:xfrm>
            <a:off x="3309028" y="3120231"/>
            <a:ext cx="208872" cy="19954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סקלרית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9107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he-IL" dirty="0"/>
                  <a:t>נראה מה קורה עבור וקטורים </a:t>
                </a:r>
                <a:r>
                  <a:rPr lang="he-IL" dirty="0" err="1"/>
                  <a:t>אורתוגונלים</a:t>
                </a:r>
                <a:endParaRPr lang="he-IL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he-IL" dirty="0"/>
                  <a:t>עבור וקטורים מקבילים (באותו כיוון) נקבל</a:t>
                </a:r>
              </a:p>
              <a:p>
                <a:pPr marL="0" indent="0" algn="ctr">
                  <a:buNone/>
                </a:pPr>
                <a:endParaRPr lang="he-IL" dirty="0"/>
              </a:p>
              <a:p>
                <a:pPr>
                  <a:lnSpc>
                    <a:spcPct val="150000"/>
                  </a:lnSpc>
                </a:pPr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נוכל לקבל וקטור יחידה (עם גודל 1)</a:t>
                </a:r>
                <a:r>
                  <a:rPr lang="en-US" dirty="0"/>
                  <a:t> </a:t>
                </a:r>
                <a:r>
                  <a:rPr lang="he-IL" dirty="0" err="1"/>
                  <a:t>מוקטור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he-IL" dirty="0"/>
                  <a:t> כללי באופן הבא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1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sz="2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1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m:rPr>
                              <m:lit/>
                            </m:rPr>
                            <a:rPr lang="he-IL" sz="21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2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1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91075"/>
              </a:xfrm>
              <a:blipFill rotWithShape="0">
                <a:blip r:embed="rId2"/>
                <a:stretch>
                  <a:fillRect t="-3053" r="-81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19</a:t>
            </a:fld>
            <a:endParaRPr lang="he-IL"/>
          </a:p>
        </p:txBody>
      </p:sp>
      <p:grpSp>
        <p:nvGrpSpPr>
          <p:cNvPr id="15" name="קבוצה 14"/>
          <p:cNvGrpSpPr/>
          <p:nvPr/>
        </p:nvGrpSpPr>
        <p:grpSpPr>
          <a:xfrm>
            <a:off x="2963677" y="2001520"/>
            <a:ext cx="1646512" cy="1734446"/>
            <a:chOff x="2585852" y="2522220"/>
            <a:chExt cx="1646512" cy="1734446"/>
          </a:xfrm>
        </p:grpSpPr>
        <p:cxnSp>
          <p:nvCxnSpPr>
            <p:cNvPr id="6" name="מחבר חץ ישר 5"/>
            <p:cNvCxnSpPr/>
            <p:nvPr/>
          </p:nvCxnSpPr>
          <p:spPr>
            <a:xfrm flipV="1">
              <a:off x="2939141" y="2522220"/>
              <a:ext cx="0" cy="1316083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מחבר חץ ישר 7"/>
            <p:cNvCxnSpPr/>
            <p:nvPr/>
          </p:nvCxnSpPr>
          <p:spPr>
            <a:xfrm>
              <a:off x="2939141" y="3840479"/>
              <a:ext cx="1293223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2585852" y="3032407"/>
                  <a:ext cx="248786" cy="4031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he-IL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5852" y="3032407"/>
                  <a:ext cx="248786" cy="40312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t="-21212" r="-425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3402576" y="3853542"/>
                  <a:ext cx="248786" cy="4031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he-IL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2576" y="3853542"/>
                  <a:ext cx="248786" cy="40312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r="-3170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425937" y="2594789"/>
                <a:ext cx="248786" cy="443436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937" y="2594789"/>
                <a:ext cx="248786" cy="443436"/>
              </a:xfrm>
              <a:prstGeom prst="rect">
                <a:avLst/>
              </a:prstGeom>
              <a:blipFill rotWithShape="0">
                <a:blip r:embed="rId5"/>
                <a:stretch>
                  <a:fillRect t="-19444" r="-719512" b="-416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338557" y="2533455"/>
                <a:ext cx="248786" cy="619273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8557" y="2533455"/>
                <a:ext cx="248786" cy="619273"/>
              </a:xfrm>
              <a:prstGeom prst="rect">
                <a:avLst/>
              </a:prstGeom>
              <a:blipFill rotWithShape="0">
                <a:blip r:embed="rId6"/>
                <a:stretch>
                  <a:fillRect r="-5536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964291" y="2647580"/>
                <a:ext cx="248786" cy="4062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4291" y="2647580"/>
                <a:ext cx="248786" cy="406265"/>
              </a:xfrm>
              <a:prstGeom prst="rect">
                <a:avLst/>
              </a:prstGeom>
              <a:blipFill rotWithShape="0">
                <a:blip r:embed="rId7"/>
                <a:stretch>
                  <a:fillRect r="-120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674723" y="4025670"/>
                <a:ext cx="248786" cy="42704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0=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723" y="4025670"/>
                <a:ext cx="248786" cy="427040"/>
              </a:xfrm>
              <a:prstGeom prst="rect">
                <a:avLst/>
              </a:prstGeom>
              <a:blipFill rotWithShape="0">
                <a:blip r:embed="rId8"/>
                <a:stretch>
                  <a:fillRect t="-20000" r="-101951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507614" y="5649280"/>
                <a:ext cx="248786" cy="8007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m:rPr>
                              <m:lit/>
                            </m:rPr>
                            <a:rPr lang="he-IL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acc>
                                <m:accPr>
                                  <m:chr m:val="⃗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</m:rad>
                        </m:den>
                      </m:f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614" y="5649280"/>
                <a:ext cx="248786" cy="800732"/>
              </a:xfrm>
              <a:prstGeom prst="rect">
                <a:avLst/>
              </a:prstGeom>
              <a:blipFill rotWithShape="0">
                <a:blip r:embed="rId9"/>
                <a:stretch>
                  <a:fillRect r="-295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96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" grpId="0" uiExpand="1" build="p"/>
      <p:bldP spid="12" grpId="0"/>
      <p:bldP spid="17" grpId="0"/>
      <p:bldP spid="18" grpId="0"/>
      <p:bldP spid="19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סקלרית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ונראה שגודלו באמת 1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ושהוא חסר יחידות</a:t>
            </a:r>
          </a:p>
          <a:p>
            <a:pPr marL="0" indent="0" algn="ctr">
              <a:buNone/>
            </a:pP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20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49909" y="2573383"/>
                <a:ext cx="1477954" cy="47365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ra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909" y="2573383"/>
                <a:ext cx="1477954" cy="473656"/>
              </a:xfrm>
              <a:prstGeom prst="rect">
                <a:avLst/>
              </a:prstGeom>
              <a:blipFill rotWithShape="0">
                <a:blip r:embed="rId2"/>
                <a:stretch>
                  <a:fillRect r="-1115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27863" y="2354861"/>
                <a:ext cx="1477954" cy="910699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rad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rad>
                            </m:den>
                          </m:f>
                        </m:e>
                      </m:ra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863" y="2354861"/>
                <a:ext cx="1477954" cy="910699"/>
              </a:xfrm>
              <a:prstGeom prst="rect">
                <a:avLst/>
              </a:prstGeom>
              <a:blipFill rotWithShape="0">
                <a:blip r:embed="rId3"/>
                <a:stretch>
                  <a:fillRect r="-1975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833708" y="4596326"/>
                <a:ext cx="1477954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3708" y="4596326"/>
                <a:ext cx="1477954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640632" y="4573920"/>
                <a:ext cx="1477954" cy="37907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632" y="4573920"/>
                <a:ext cx="1477954" cy="379078"/>
              </a:xfrm>
              <a:prstGeom prst="rect">
                <a:avLst/>
              </a:prstGeom>
              <a:blipFill rotWithShape="0">
                <a:blip r:embed="rId5"/>
                <a:stretch>
                  <a:fillRect t="-6452" b="-1774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237170" y="4385938"/>
                <a:ext cx="1477954" cy="80156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170" y="4385938"/>
                <a:ext cx="1477954" cy="80156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580506" y="2638518"/>
                <a:ext cx="1477954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506" y="2638518"/>
                <a:ext cx="1477954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440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/>
      <p:bldP spid="6" grpId="0"/>
      <p:bldP spid="7" grpId="0"/>
      <p:bldP spid="8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סקלרית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e-IL" dirty="0"/>
                  <a:t>ועכשיו נוכל להגדיר מחדש </a:t>
                </a:r>
                <a:r>
                  <a:rPr lang="he-IL" dirty="0" err="1"/>
                  <a:t>מהוא</a:t>
                </a:r>
                <a:r>
                  <a:rPr lang="he-IL" dirty="0"/>
                  <a:t> בסיס </a:t>
                </a:r>
                <a:r>
                  <a:rPr lang="he-IL" dirty="0" err="1"/>
                  <a:t>אותרונורמלי</a:t>
                </a:r>
                <a:r>
                  <a:rPr lang="he-IL" dirty="0"/>
                  <a:t>.</a:t>
                </a:r>
              </a:p>
              <a:p>
                <a:pPr marL="0" indent="0">
                  <a:buNone/>
                </a:pPr>
                <a:endParaRPr lang="he-IL" dirty="0"/>
              </a:p>
              <a:p>
                <a:pPr marL="0" indent="0">
                  <a:buNone/>
                </a:pPr>
                <a:r>
                  <a:rPr lang="he-IL" dirty="0"/>
                  <a:t>סט </a:t>
                </a:r>
                <a:r>
                  <a:rPr lang="he-IL" dirty="0" err="1"/>
                  <a:t>הוקטורים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he-IL" dirty="0"/>
                  <a:t> הוא בסיס </a:t>
                </a:r>
                <a:r>
                  <a:rPr lang="he-IL" dirty="0" err="1"/>
                  <a:t>אורתונורמלי</a:t>
                </a:r>
                <a:r>
                  <a:rPr lang="he-IL" dirty="0"/>
                  <a:t> אם מתקיים</a:t>
                </a:r>
              </a:p>
              <a:p>
                <a:pPr marL="0" indent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 r="-11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21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5562" y="3805471"/>
                <a:ext cx="298480" cy="1190839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2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0             </m:t>
                              </m:r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1             </m:t>
                              </m:r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he-IL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562" y="3805471"/>
                <a:ext cx="298480" cy="1190839"/>
              </a:xfrm>
              <a:prstGeom prst="rect">
                <a:avLst/>
              </a:prstGeom>
              <a:blipFill rotWithShape="0">
                <a:blip r:embed="rId3"/>
                <a:stretch>
                  <a:fillRect r="-122040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קבוצה 11"/>
          <p:cNvGrpSpPr/>
          <p:nvPr/>
        </p:nvGrpSpPr>
        <p:grpSpPr>
          <a:xfrm>
            <a:off x="8190411" y="3930134"/>
            <a:ext cx="2116184" cy="369332"/>
            <a:chOff x="8190411" y="3930134"/>
            <a:chExt cx="2116184" cy="369332"/>
          </a:xfrm>
        </p:grpSpPr>
        <p:cxnSp>
          <p:nvCxnSpPr>
            <p:cNvPr id="7" name="מחבר חץ ישר 6"/>
            <p:cNvCxnSpPr/>
            <p:nvPr/>
          </p:nvCxnSpPr>
          <p:spPr>
            <a:xfrm flipH="1">
              <a:off x="8190411" y="4114800"/>
              <a:ext cx="71845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9007842" y="3930134"/>
              <a:ext cx="1298753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dirty="0"/>
                <a:t>אורתוגונליות</a:t>
              </a:r>
            </a:p>
          </p:txBody>
        </p:sp>
      </p:grpSp>
      <p:grpSp>
        <p:nvGrpSpPr>
          <p:cNvPr id="11" name="קבוצה 10"/>
          <p:cNvGrpSpPr/>
          <p:nvPr/>
        </p:nvGrpSpPr>
        <p:grpSpPr>
          <a:xfrm>
            <a:off x="8216537" y="4434403"/>
            <a:ext cx="1750424" cy="369332"/>
            <a:chOff x="8216537" y="4434403"/>
            <a:chExt cx="1750424" cy="369332"/>
          </a:xfrm>
        </p:grpSpPr>
        <p:cxnSp>
          <p:nvCxnSpPr>
            <p:cNvPr id="9" name="מחבר חץ ישר 8"/>
            <p:cNvCxnSpPr/>
            <p:nvPr/>
          </p:nvCxnSpPr>
          <p:spPr>
            <a:xfrm flipH="1">
              <a:off x="8216537" y="4643449"/>
              <a:ext cx="71845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9221244" y="4434403"/>
              <a:ext cx="745717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dirty="0" err="1"/>
                <a:t>נירמול</a:t>
              </a:r>
              <a:endParaRPr lang="he-IL" dirty="0"/>
            </a:p>
          </p:txBody>
        </p:sp>
      </p:grpSp>
      <p:sp>
        <p:nvSpPr>
          <p:cNvPr id="13" name="סוגר מסולסל שמאלי 12"/>
          <p:cNvSpPr/>
          <p:nvPr/>
        </p:nvSpPr>
        <p:spPr>
          <a:xfrm rot="16200000">
            <a:off x="6439989" y="4321627"/>
            <a:ext cx="350519" cy="2340429"/>
          </a:xfrm>
          <a:prstGeom prst="leftBrace">
            <a:avLst>
              <a:gd name="adj1" fmla="val 33398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418714" y="5713146"/>
                <a:ext cx="248786" cy="391646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714" y="5713146"/>
                <a:ext cx="248786" cy="391646"/>
              </a:xfrm>
              <a:prstGeom prst="rect">
                <a:avLst/>
              </a:prstGeom>
              <a:blipFill rotWithShape="0">
                <a:blip r:embed="rId4"/>
                <a:stretch>
                  <a:fillRect r="-70732" b="-937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92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13" grpId="0" animBg="1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סקלרית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</p:spPr>
            <p:txBody>
              <a:bodyPr/>
              <a:lstStyle/>
              <a:p>
                <a:r>
                  <a:rPr lang="he-IL" u="sng" dirty="0"/>
                  <a:t>תרגיל מקדים</a:t>
                </a:r>
                <a:r>
                  <a:rPr lang="he-IL" dirty="0"/>
                  <a:t> - הוכיחו את הקשר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=|</m:t>
                    </m:r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||</m:t>
                    </m:r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he-IL" dirty="0"/>
              </a:p>
              <a:p>
                <a:r>
                  <a:rPr lang="he-IL" u="sng" dirty="0"/>
                  <a:t>פתרון</a:t>
                </a:r>
                <a:r>
                  <a:rPr lang="he-IL" dirty="0"/>
                  <a:t> – </a:t>
                </a:r>
              </a:p>
              <a:p>
                <a:endParaRPr lang="he-IL" u="sng" dirty="0"/>
              </a:p>
              <a:p>
                <a:endParaRPr lang="he-IL" u="sng" dirty="0"/>
              </a:p>
              <a:p>
                <a:endParaRPr lang="he-IL" u="sng" dirty="0"/>
              </a:p>
              <a:p>
                <a:endParaRPr lang="he-IL" u="sng" dirty="0"/>
              </a:p>
              <a:p>
                <a:pPr marL="0" indent="0">
                  <a:buNone/>
                </a:pPr>
                <a:r>
                  <a:rPr lang="he-IL" dirty="0"/>
                  <a:t>נזהה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he-IL" dirty="0"/>
                  <a:t> ומהשוואות שני הביטויים נקבל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=|</m:t>
                      </m:r>
                      <m:acc>
                        <m:accPr>
                          <m:chr m:val="⃗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||</m:t>
                      </m:r>
                      <m:acc>
                        <m:accPr>
                          <m:chr m:val="⃗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he-IL" dirty="0"/>
              </a:p>
              <a:p>
                <a:pPr marL="0" indent="0" algn="ctr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  <a:blipFill rotWithShape="0">
                <a:blip r:embed="rId2"/>
                <a:stretch>
                  <a:fillRect t="-1210" r="-11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22</a:t>
            </a:fld>
            <a:endParaRPr lang="he-IL"/>
          </a:p>
        </p:txBody>
      </p:sp>
      <p:grpSp>
        <p:nvGrpSpPr>
          <p:cNvPr id="17" name="קבוצה 16"/>
          <p:cNvGrpSpPr/>
          <p:nvPr/>
        </p:nvGrpSpPr>
        <p:grpSpPr>
          <a:xfrm>
            <a:off x="1984625" y="3194369"/>
            <a:ext cx="443131" cy="1124258"/>
            <a:chOff x="3578295" y="3194369"/>
            <a:chExt cx="443131" cy="1124258"/>
          </a:xfrm>
        </p:grpSpPr>
        <p:cxnSp>
          <p:nvCxnSpPr>
            <p:cNvPr id="12" name="מחבר חץ ישר 11"/>
            <p:cNvCxnSpPr/>
            <p:nvPr/>
          </p:nvCxnSpPr>
          <p:spPr>
            <a:xfrm flipH="1" flipV="1">
              <a:off x="3578295" y="3194369"/>
              <a:ext cx="388690" cy="112425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3772640" y="3342059"/>
                  <a:ext cx="248786" cy="40312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he-IL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2640" y="3342059"/>
                  <a:ext cx="248786" cy="40312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t="-21212" r="-200000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קבוצה 15"/>
          <p:cNvGrpSpPr/>
          <p:nvPr/>
        </p:nvGrpSpPr>
        <p:grpSpPr>
          <a:xfrm>
            <a:off x="1351265" y="3199775"/>
            <a:ext cx="969219" cy="1734627"/>
            <a:chOff x="2944935" y="3199775"/>
            <a:chExt cx="969219" cy="1734627"/>
          </a:xfrm>
        </p:grpSpPr>
        <p:grpSp>
          <p:nvGrpSpPr>
            <p:cNvPr id="6" name="קבוצה 5"/>
            <p:cNvGrpSpPr/>
            <p:nvPr/>
          </p:nvGrpSpPr>
          <p:grpSpPr>
            <a:xfrm>
              <a:off x="2944935" y="3199775"/>
              <a:ext cx="969219" cy="1734627"/>
              <a:chOff x="2301709" y="4426857"/>
              <a:chExt cx="969219" cy="1734627"/>
            </a:xfrm>
          </p:grpSpPr>
          <p:cxnSp>
            <p:nvCxnSpPr>
              <p:cNvPr id="7" name="מחבר חץ ישר 6"/>
              <p:cNvCxnSpPr/>
              <p:nvPr/>
            </p:nvCxnSpPr>
            <p:spPr>
              <a:xfrm flipV="1">
                <a:off x="2356634" y="4426857"/>
                <a:ext cx="518780" cy="1536781"/>
              </a:xfrm>
              <a:prstGeom prst="straightConnector1">
                <a:avLst/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2301709" y="4844087"/>
                    <a:ext cx="248786" cy="403124"/>
                  </a:xfrm>
                  <a:prstGeom prst="rect">
                    <a:avLst/>
                  </a:prstGeom>
                  <a:noFill/>
                </p:spPr>
                <p:txBody>
                  <a:bodyPr wrap="non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oMath>
                      </m:oMathPara>
                    </a14:m>
                    <a:endParaRPr lang="he-IL" dirty="0">
                      <a:solidFill>
                        <a:schemeClr val="accent1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TextBox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01709" y="4844087"/>
                    <a:ext cx="248786" cy="403124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t="-21212" r="-42500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" name="מחבר חץ ישר 8"/>
              <p:cNvCxnSpPr/>
              <p:nvPr/>
            </p:nvCxnSpPr>
            <p:spPr>
              <a:xfrm flipV="1">
                <a:off x="2356634" y="5558971"/>
                <a:ext cx="914294" cy="40466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2794053" y="5758360"/>
                    <a:ext cx="248786" cy="403124"/>
                  </a:xfrm>
                  <a:prstGeom prst="rect">
                    <a:avLst/>
                  </a:prstGeom>
                  <a:noFill/>
                </p:spPr>
                <p:txBody>
                  <a:bodyPr wrap="none" rtlCol="1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oMath>
                      </m:oMathPara>
                    </a14:m>
                    <a:endParaRPr lang="he-IL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TextBox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94053" y="5758360"/>
                    <a:ext cx="248786" cy="403124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 r="-31707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קשת 13"/>
            <p:cNvSpPr/>
            <p:nvPr/>
          </p:nvSpPr>
          <p:spPr>
            <a:xfrm rot="631419">
              <a:off x="3008326" y="4522251"/>
              <a:ext cx="201725" cy="215595"/>
            </a:xfrm>
            <a:prstGeom prst="arc">
              <a:avLst>
                <a:gd name="adj1" fmla="val 14577685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3109188" y="4326255"/>
                  <a:ext cx="218763" cy="261610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9188" y="4326255"/>
                  <a:ext cx="218763" cy="26161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r="-20000" b="-4651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976027" y="3542787"/>
                <a:ext cx="1053173" cy="40479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en-US" dirty="0"/>
                  <a:t>|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027" y="3542787"/>
                <a:ext cx="1053173" cy="404791"/>
              </a:xfrm>
              <a:prstGeom prst="rect">
                <a:avLst/>
              </a:prstGeom>
              <a:blipFill rotWithShape="0">
                <a:blip r:embed="rId7"/>
                <a:stretch>
                  <a:fillRect l="-3468" t="-100000" r="-23121" b="-16716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29200" y="3531662"/>
                <a:ext cx="248786" cy="42704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3531662"/>
                <a:ext cx="248786" cy="427040"/>
              </a:xfrm>
              <a:prstGeom prst="rect">
                <a:avLst/>
              </a:prstGeom>
              <a:blipFill rotWithShape="0">
                <a:blip r:embed="rId8"/>
                <a:stretch>
                  <a:fillRect t="-20000" r="-71707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114903" y="3492473"/>
                <a:ext cx="248786" cy="48173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903" y="3492473"/>
                <a:ext cx="248786" cy="481735"/>
              </a:xfrm>
              <a:prstGeom prst="rect">
                <a:avLst/>
              </a:prstGeom>
              <a:blipFill rotWithShape="0">
                <a:blip r:embed="rId9"/>
                <a:stretch>
                  <a:fillRect r="-81219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286497" y="4212339"/>
                <a:ext cx="3540627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497" y="4212339"/>
                <a:ext cx="3540627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200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/>
      <p:bldP spid="19" grpId="0"/>
      <p:bldP spid="20" grpId="0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סקלרית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e-IL" u="sng" dirty="0"/>
                  <a:t>תרגיל 1</a:t>
                </a:r>
              </a:p>
              <a:p>
                <a:pPr marL="0" indent="0">
                  <a:buNone/>
                </a:pPr>
                <a:r>
                  <a:rPr lang="he-IL" dirty="0"/>
                  <a:t>נתונים </a:t>
                </a:r>
                <a:r>
                  <a:rPr lang="he-IL" dirty="0" err="1"/>
                  <a:t>הוקטורים</a:t>
                </a:r>
                <a:r>
                  <a:rPr lang="he-IL" dirty="0"/>
                  <a:t> הבאים</a:t>
                </a:r>
              </a:p>
              <a:p>
                <a:pPr marL="514350" indent="-514350">
                  <a:buAutoNum type="arabicPeriod"/>
                </a:pPr>
                <a:r>
                  <a:rPr lang="he-IL" sz="2400" dirty="0"/>
                  <a:t>א. חשבו את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he-IL" sz="2400" b="0" i="1" dirty="0" smtClean="0">
                        <a:latin typeface="Cambria Math" panose="02040503050406030204" pitchFamily="18" charset="0"/>
                      </a:rPr>
                      <m:t>−7</m:t>
                    </m:r>
                    <m:acc>
                      <m:accPr>
                        <m:chr m:val="⃗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+3</m:t>
                    </m:r>
                    <m:acc>
                      <m:accPr>
                        <m:chr m:val="⃗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endParaRPr lang="he-IL" sz="2400" dirty="0"/>
              </a:p>
              <a:p>
                <a:pPr marL="457200" lvl="1" indent="0">
                  <a:buNone/>
                </a:pPr>
                <a:r>
                  <a:rPr lang="he-IL" dirty="0"/>
                  <a:t> ב. חשבו את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</m:oMath>
                </a14:m>
                <a:endParaRPr lang="en-US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he-IL" sz="2400" dirty="0"/>
                  <a:t>מצאו את הזווית בין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he-IL" sz="2400" b="0" dirty="0"/>
                  <a:t> ל-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lang="he-IL" sz="2400" b="0" dirty="0"/>
              </a:p>
              <a:p>
                <a:pPr marL="0" indent="0">
                  <a:buNone/>
                </a:pPr>
                <a:endParaRPr lang="he-IL" sz="2400" dirty="0"/>
              </a:p>
              <a:p>
                <a:r>
                  <a:rPr lang="he-IL" sz="2400" b="0" u="sng" dirty="0"/>
                  <a:t>פתרון:</a:t>
                </a:r>
                <a:endParaRPr lang="en-US" sz="2400" b="0" u="sng" dirty="0"/>
              </a:p>
              <a:p>
                <a:pPr marL="0" indent="0" algn="ctr">
                  <a:buNone/>
                </a:pPr>
                <a:r>
                  <a:rPr lang="he-IL" dirty="0"/>
                  <a:t> </a:t>
                </a:r>
                <a:endParaRPr lang="he-IL" u="sng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 r="-11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23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01293" y="2408229"/>
                <a:ext cx="3960214" cy="15930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he-IL" i="1" dirty="0">
                          <a:latin typeface="Cambria Math" panose="02040503050406030204" pitchFamily="18" charset="0"/>
                        </a:rPr>
                        <m:t>=5</m:t>
                      </m:r>
                      <m:acc>
                        <m:accPr>
                          <m:chr m:val="̂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he-IL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=8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en-US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−8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en-US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−7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293" y="2408229"/>
                <a:ext cx="3960214" cy="1593065"/>
              </a:xfrm>
              <a:prstGeom prst="rect">
                <a:avLst/>
              </a:prstGeom>
              <a:blipFill rotWithShape="0">
                <a:blip r:embed="rId3"/>
                <a:stretch>
                  <a:fillRect t="-498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83976" y="5235701"/>
                <a:ext cx="2394848" cy="68730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5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he-IL" i="1" dirty="0">
                          <a:latin typeface="Cambria Math" panose="02040503050406030204" pitchFamily="18" charset="0"/>
                        </a:rPr>
                        <m:t>−7</m:t>
                      </m:r>
                      <m:acc>
                        <m:accPr>
                          <m:chr m:val="⃗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+3</m:t>
                      </m:r>
                      <m:acc>
                        <m:accPr>
                          <m:chr m:val="⃗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he-IL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6" y="5235701"/>
                <a:ext cx="2394848" cy="687304"/>
              </a:xfrm>
              <a:prstGeom prst="rect">
                <a:avLst/>
              </a:prstGeom>
              <a:blipFill rotWithShape="0">
                <a:blip r:embed="rId4"/>
                <a:stretch>
                  <a:fillRect t="-531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921036" y="5256187"/>
                <a:ext cx="390361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(5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he-IL" i="1" dirty="0">
                          <a:latin typeface="Cambria Math" panose="02040503050406030204" pitchFamily="18" charset="0"/>
                        </a:rPr>
                        <m:t>−7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8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3(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−4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036" y="5256187"/>
                <a:ext cx="3903613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4918" b="-147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646715" y="5667589"/>
                <a:ext cx="3513906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he-IL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56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12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715" y="5667589"/>
                <a:ext cx="3513906" cy="369332"/>
              </a:xfrm>
              <a:prstGeom prst="rect">
                <a:avLst/>
              </a:prstGeom>
              <a:blipFill rotWithShape="0">
                <a:blip r:embed="rId6"/>
                <a:stretch>
                  <a:fillRect t="-5000" b="-833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98521" y="6078991"/>
                <a:ext cx="3513906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12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he-IL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56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521" y="6078991"/>
                <a:ext cx="3513906" cy="369332"/>
              </a:xfrm>
              <a:prstGeom prst="rect">
                <a:avLst/>
              </a:prstGeom>
              <a:blipFill rotWithShape="0">
                <a:blip r:embed="rId7"/>
                <a:stretch>
                  <a:fillRect t="-4918" b="-819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51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uiExpand="1"/>
      <p:bldP spid="7" grpId="0"/>
      <p:bldP spid="9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סקלרית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u="sng" dirty="0"/>
              <a:t>פתרון</a:t>
            </a:r>
          </a:p>
          <a:p>
            <a:r>
              <a:rPr lang="he-IL" u="sng" dirty="0"/>
              <a:t>1.ב.</a:t>
            </a:r>
          </a:p>
          <a:p>
            <a:endParaRPr lang="he-IL" u="sng" dirty="0"/>
          </a:p>
          <a:p>
            <a:endParaRPr lang="he-IL" u="sng" dirty="0"/>
          </a:p>
          <a:p>
            <a:endParaRPr lang="he-IL" u="sng" dirty="0"/>
          </a:p>
          <a:p>
            <a:r>
              <a:rPr lang="he-IL" u="sng" dirty="0"/>
              <a:t>2.</a:t>
            </a:r>
          </a:p>
          <a:p>
            <a:endParaRPr lang="he-IL" u="sng" dirty="0"/>
          </a:p>
          <a:p>
            <a:endParaRPr lang="he-IL" u="sng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24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172789" y="2347266"/>
                <a:ext cx="2394848" cy="709553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he-IL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789" y="2347266"/>
                <a:ext cx="2394848" cy="709553"/>
              </a:xfrm>
              <a:prstGeom prst="rect">
                <a:avLst/>
              </a:prstGeom>
              <a:blipFill rotWithShape="0">
                <a:blip r:embed="rId2"/>
                <a:stretch>
                  <a:fillRect t="-1206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80905" y="2366243"/>
                <a:ext cx="3903613" cy="38581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8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+5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+3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−8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−3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−7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905" y="2366243"/>
                <a:ext cx="3903613" cy="385811"/>
              </a:xfrm>
              <a:prstGeom prst="rect">
                <a:avLst/>
              </a:prstGeom>
              <a:blipFill rotWithShape="0">
                <a:blip r:embed="rId3"/>
                <a:stretch>
                  <a:fillRect r="-8125" b="-1587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116579" y="2802904"/>
                <a:ext cx="3513906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e>
                      </m: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579" y="2802904"/>
                <a:ext cx="351390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75347" y="3204456"/>
                <a:ext cx="3513906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15−21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347" y="3204456"/>
                <a:ext cx="3513906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מחבר ישר 9"/>
          <p:cNvCxnSpPr/>
          <p:nvPr/>
        </p:nvCxnSpPr>
        <p:spPr>
          <a:xfrm flipH="1">
            <a:off x="4178300" y="2404343"/>
            <a:ext cx="241300" cy="33579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מחבר ישר 10"/>
          <p:cNvCxnSpPr/>
          <p:nvPr/>
        </p:nvCxnSpPr>
        <p:spPr>
          <a:xfrm flipH="1">
            <a:off x="5754191" y="2390321"/>
            <a:ext cx="241300" cy="33579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421347" y="3627082"/>
                <a:ext cx="3513906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347" y="3627082"/>
                <a:ext cx="3513906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286000" y="4331348"/>
                <a:ext cx="2590800" cy="108805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he-IL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4331348"/>
                <a:ext cx="2590800" cy="108805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895600" y="4390394"/>
                <a:ext cx="4148907" cy="671979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i="1" dirty="0">
                              <a:latin typeface="Cambria Math" panose="02040503050406030204" pitchFamily="18" charset="0"/>
                            </a:rPr>
                            <m:t>5</m:t>
                          </m:r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8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4390394"/>
                <a:ext cx="4148907" cy="67197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858257" y="4514403"/>
                <a:ext cx="4148907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257" y="4514403"/>
                <a:ext cx="4148907" cy="369332"/>
              </a:xfrm>
              <a:prstGeom prst="rect">
                <a:avLst/>
              </a:prstGeom>
              <a:blipFill rotWithShape="0">
                <a:blip r:embed="rId9"/>
                <a:stretch>
                  <a:fillRect t="-5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568918" y="4514403"/>
                <a:ext cx="4148907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918" y="4514403"/>
                <a:ext cx="4148907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947093" y="5293783"/>
                <a:ext cx="4148907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arccos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093" y="5293783"/>
                <a:ext cx="4148907" cy="369332"/>
              </a:xfrm>
              <a:prstGeom prst="rect">
                <a:avLst/>
              </a:prstGeom>
              <a:blipFill rotWithShape="0"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מלבן 17"/>
              <p:cNvSpPr/>
              <p:nvPr/>
            </p:nvSpPr>
            <p:spPr>
              <a:xfrm>
                <a:off x="4723440" y="5199065"/>
                <a:ext cx="248786" cy="562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8" name="מלבן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440" y="5199065"/>
                <a:ext cx="248786" cy="562975"/>
              </a:xfrm>
              <a:prstGeom prst="rect">
                <a:avLst/>
              </a:prstGeom>
              <a:blipFill rotWithShape="0">
                <a:blip r:embed="rId12"/>
                <a:stretch>
                  <a:fillRect r="-8780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258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סקלרית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e-IL" u="sng" dirty="0"/>
                  <a:t>תרגיל 2</a:t>
                </a:r>
              </a:p>
              <a:p>
                <a:pPr marL="0" indent="0">
                  <a:buNone/>
                </a:pPr>
                <a:r>
                  <a:rPr lang="he-IL" sz="2000" dirty="0"/>
                  <a:t>מה המרחק הקצר ביותר בין הישר שעובר דרך הרשית בכיוון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he-IL" sz="2000" dirty="0"/>
                  <a:t> לבין </a:t>
                </a:r>
                <a:r>
                  <a:rPr lang="he-IL" sz="2000" dirty="0" err="1"/>
                  <a:t>הוקטור</a:t>
                </a:r>
                <a:r>
                  <a:rPr lang="he-IL" sz="2000" dirty="0"/>
                  <a:t> הכללי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he-IL" sz="2000" dirty="0"/>
                  <a:t>?</a:t>
                </a:r>
              </a:p>
              <a:p>
                <a:pPr marL="0" indent="0">
                  <a:buNone/>
                </a:pPr>
                <a:endParaRPr lang="he-IL" u="sng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 r="-10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25</a:t>
            </a:fld>
            <a:endParaRPr lang="he-IL"/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693" y="3152366"/>
            <a:ext cx="319087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33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סקלרית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e-IL" u="sng" dirty="0"/>
                  <a:t>תרגיל 2 - פתרון</a:t>
                </a:r>
              </a:p>
              <a:p>
                <a:pPr marL="0" indent="0">
                  <a:buNone/>
                </a:pPr>
                <a:r>
                  <a:rPr lang="he-IL" sz="2400" dirty="0"/>
                  <a:t>נתחיל מביטוי כללי לישר העובר דרך הראשית במקביל </a:t>
                </a:r>
                <a:r>
                  <a:rPr lang="he-IL" sz="2400" dirty="0" err="1"/>
                  <a:t>לוקטור</a:t>
                </a:r>
                <a:r>
                  <a:rPr lang="he-IL" sz="2400" dirty="0"/>
                  <a:t> היחידה הכללי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endParaRPr lang="he-IL" sz="240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acc>
                        <m:accPr>
                          <m:chr m:val="̂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he-IL" sz="2400" dirty="0"/>
              </a:p>
              <a:p>
                <a:pPr>
                  <a:lnSpc>
                    <a:spcPct val="150000"/>
                  </a:lnSpc>
                  <a:buFontTx/>
                  <a:buChar char="-"/>
                </a:pPr>
                <a:r>
                  <a:rPr lang="he-IL" sz="2400" dirty="0"/>
                  <a:t>כל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he-IL" sz="2400" dirty="0"/>
                  <a:t> הוא וקטור באורך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e-IL" sz="2400" dirty="0"/>
                  <a:t> ובכיוון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he-IL" sz="2400" dirty="0"/>
                  <a:t>, יחד </a:t>
                </a:r>
                <a:r>
                  <a:rPr lang="he-IL" sz="2400" dirty="0" err="1"/>
                  <a:t>הוקטורים</a:t>
                </a:r>
                <a:r>
                  <a:rPr lang="he-IL" sz="2400" dirty="0"/>
                  <a:t> האלו מהווים את אוסף הנקודות שהוא הישר.</a:t>
                </a:r>
              </a:p>
              <a:p>
                <a:pPr>
                  <a:lnSpc>
                    <a:spcPct val="150000"/>
                  </a:lnSpc>
                  <a:buFontTx/>
                  <a:buChar char="-"/>
                </a:pPr>
                <a:r>
                  <a:rPr lang="he-IL" sz="2400" dirty="0"/>
                  <a:t>את המרחק של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he-IL" sz="2400" dirty="0"/>
                  <a:t> מכל נקודה על הישר נביע בעזרת חיסור וקטורים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he-IL" sz="2400" dirty="0"/>
              </a:p>
              <a:p>
                <a:pPr>
                  <a:lnSpc>
                    <a:spcPct val="150000"/>
                  </a:lnSpc>
                  <a:buFontTx/>
                  <a:buChar char="-"/>
                </a:pPr>
                <a:endParaRPr lang="he-IL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he-IL" sz="2400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 r="-10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26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32614" y="5381898"/>
                <a:ext cx="248786" cy="40312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2614" y="5381898"/>
                <a:ext cx="248786" cy="403124"/>
              </a:xfrm>
              <a:prstGeom prst="rect">
                <a:avLst/>
              </a:prstGeom>
              <a:blipFill rotWithShape="0">
                <a:blip r:embed="rId3"/>
                <a:stretch>
                  <a:fillRect t="-21212" r="-697561" b="-1363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209311" y="5216264"/>
                <a:ext cx="248786" cy="656013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ra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311" y="5216264"/>
                <a:ext cx="248786" cy="656013"/>
              </a:xfrm>
              <a:prstGeom prst="rect">
                <a:avLst/>
              </a:prstGeom>
              <a:blipFill rotWithShape="0">
                <a:blip r:embed="rId4"/>
                <a:stretch>
                  <a:fillRect r="-1015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952511" y="5208287"/>
                <a:ext cx="248786" cy="656013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ra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2511" y="5208287"/>
                <a:ext cx="248786" cy="656013"/>
              </a:xfrm>
              <a:prstGeom prst="rect">
                <a:avLst/>
              </a:prstGeom>
              <a:blipFill rotWithShape="0">
                <a:blip r:embed="rId5"/>
                <a:stretch>
                  <a:fillRect r="-885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38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סקלרית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Tx/>
                  <a:buChar char="-"/>
                </a:pPr>
                <a:r>
                  <a:rPr lang="he-IL" dirty="0"/>
                  <a:t>כדי למצוא את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e-IL" dirty="0"/>
                  <a:t> שנותן את המרחק המינימלי, נגזור את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he-IL" dirty="0"/>
                  <a:t> לפי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e-IL" dirty="0"/>
                  <a:t> ונשווה ל-0</a:t>
                </a:r>
              </a:p>
              <a:p>
                <a:pPr marL="0" indent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39" t="-2381" r="-121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27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40283" y="2939143"/>
                <a:ext cx="248786" cy="62985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𝑑𝐷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𝑑𝑘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283" y="2939143"/>
                <a:ext cx="248786" cy="629852"/>
              </a:xfrm>
              <a:prstGeom prst="rect">
                <a:avLst/>
              </a:prstGeom>
              <a:blipFill rotWithShape="0">
                <a:blip r:embed="rId3"/>
                <a:stretch>
                  <a:fillRect r="-27317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594463" y="2908027"/>
                <a:ext cx="248786" cy="67403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𝑑𝑘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ra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463" y="2908027"/>
                <a:ext cx="248786" cy="674031"/>
              </a:xfrm>
              <a:prstGeom prst="rect">
                <a:avLst/>
              </a:prstGeom>
              <a:blipFill rotWithShape="0">
                <a:blip r:embed="rId4"/>
                <a:stretch>
                  <a:fillRect r="-9125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205850" y="2876911"/>
                <a:ext cx="248786" cy="102611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rad>
                        </m:den>
                      </m:f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5850" y="2876911"/>
                <a:ext cx="248786" cy="1026115"/>
              </a:xfrm>
              <a:prstGeom prst="rect">
                <a:avLst/>
              </a:prstGeom>
              <a:blipFill rotWithShape="0">
                <a:blip r:embed="rId5"/>
                <a:stretch>
                  <a:fillRect r="-91463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מחבר ישר 11"/>
          <p:cNvCxnSpPr/>
          <p:nvPr/>
        </p:nvCxnSpPr>
        <p:spPr>
          <a:xfrm flipH="1">
            <a:off x="7040880" y="2939143"/>
            <a:ext cx="222069" cy="30589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מחבר ישר 12"/>
          <p:cNvCxnSpPr/>
          <p:nvPr/>
        </p:nvCxnSpPr>
        <p:spPr>
          <a:xfrm flipH="1">
            <a:off x="7600999" y="2908490"/>
            <a:ext cx="222069" cy="30589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מחבר ישר 13"/>
          <p:cNvCxnSpPr/>
          <p:nvPr/>
        </p:nvCxnSpPr>
        <p:spPr>
          <a:xfrm flipH="1">
            <a:off x="6488477" y="3455234"/>
            <a:ext cx="222069" cy="30589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קבוצה 16"/>
          <p:cNvGrpSpPr/>
          <p:nvPr/>
        </p:nvGrpSpPr>
        <p:grpSpPr>
          <a:xfrm>
            <a:off x="8838611" y="2958165"/>
            <a:ext cx="286079" cy="493633"/>
            <a:chOff x="8838611" y="2958165"/>
            <a:chExt cx="286079" cy="4936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8838611" y="308246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8611" y="3082466"/>
                  <a:ext cx="248786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r="-114634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/>
            <p:cNvSpPr txBox="1"/>
            <p:nvPr/>
          </p:nvSpPr>
          <p:spPr>
            <a:xfrm>
              <a:off x="8905814" y="2958165"/>
              <a:ext cx="218876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400" dirty="0"/>
                <a:t>!</a:t>
              </a:r>
              <a:endParaRPr lang="he-IL" sz="14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594463" y="4154679"/>
                <a:ext cx="248786" cy="40479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463" y="4154679"/>
                <a:ext cx="248786" cy="404791"/>
              </a:xfrm>
              <a:prstGeom prst="rect">
                <a:avLst/>
              </a:prstGeom>
              <a:blipFill rotWithShape="0">
                <a:blip r:embed="rId7"/>
                <a:stretch>
                  <a:fillRect r="-455000" b="-303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חץ ימינה 18"/>
          <p:cNvSpPr/>
          <p:nvPr/>
        </p:nvSpPr>
        <p:spPr>
          <a:xfrm>
            <a:off x="3031376" y="4255876"/>
            <a:ext cx="423024" cy="20239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594463" y="4862229"/>
                <a:ext cx="248786" cy="40479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)=|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463" y="4862229"/>
                <a:ext cx="248786" cy="404791"/>
              </a:xfrm>
              <a:prstGeom prst="rect">
                <a:avLst/>
              </a:prstGeom>
              <a:blipFill rotWithShape="0">
                <a:blip r:embed="rId8"/>
                <a:stretch>
                  <a:fillRect t="-10606" r="-985000" b="-1363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חץ ימינה 20"/>
          <p:cNvSpPr/>
          <p:nvPr/>
        </p:nvSpPr>
        <p:spPr>
          <a:xfrm>
            <a:off x="3031376" y="4963426"/>
            <a:ext cx="423024" cy="20239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137900" y="4686588"/>
                <a:ext cx="248786" cy="656013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900" y="4686588"/>
                <a:ext cx="248786" cy="656013"/>
              </a:xfrm>
              <a:prstGeom prst="rect">
                <a:avLst/>
              </a:prstGeom>
              <a:blipFill rotWithShape="0">
                <a:blip r:embed="rId9"/>
                <a:stretch>
                  <a:fillRect r="-124634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137900" y="5938650"/>
                <a:ext cx="248786" cy="656013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900" y="5938650"/>
                <a:ext cx="248786" cy="656013"/>
              </a:xfrm>
              <a:prstGeom prst="rect">
                <a:avLst/>
              </a:prstGeom>
              <a:blipFill rotWithShape="0">
                <a:blip r:embed="rId10"/>
                <a:stretch>
                  <a:fillRect r="-68780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137900" y="5303249"/>
                <a:ext cx="248786" cy="656013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ra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900" y="5303249"/>
                <a:ext cx="248786" cy="656013"/>
              </a:xfrm>
              <a:prstGeom prst="rect">
                <a:avLst/>
              </a:prstGeom>
              <a:blipFill rotWithShape="0">
                <a:blip r:embed="rId11"/>
                <a:stretch>
                  <a:fillRect r="-132439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תמונה 25"/>
          <p:cNvPicPr>
            <a:picLocks noChangeAspect="1"/>
          </p:cNvPicPr>
          <p:nvPr/>
        </p:nvPicPr>
        <p:blipFill rotWithShape="1">
          <a:blip r:embed="rId12"/>
          <a:srcRect l="42506" t="-1687" r="-950" b="41488"/>
          <a:stretch/>
        </p:blipFill>
        <p:spPr>
          <a:xfrm>
            <a:off x="3806653" y="5310676"/>
            <a:ext cx="1562010" cy="135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10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9" grpId="0"/>
      <p:bldP spid="10" grpId="0"/>
      <p:bldP spid="18" grpId="0"/>
      <p:bldP spid="19" grpId="0" animBg="1"/>
      <p:bldP spid="20" grpId="0"/>
      <p:bldP spid="21" grpId="0" animBg="1"/>
      <p:bldP spid="22" grpId="0"/>
      <p:bldP spid="24" grpId="0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וקטורית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e-IL" dirty="0"/>
                  <a:t>נגדיר עוד סוג של מכפלה בין וקטורים – כזאת שמכפילה וקטור </a:t>
                </a:r>
                <a:r>
                  <a:rPr lang="he-IL" dirty="0" err="1"/>
                  <a:t>בוקטור</a:t>
                </a:r>
                <a:r>
                  <a:rPr lang="he-IL" dirty="0"/>
                  <a:t> והתוצאה גם היא וקטור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he-IL" dirty="0"/>
              </a:p>
              <a:p>
                <a:r>
                  <a:rPr lang="he-IL" dirty="0"/>
                  <a:t>המכפלה </a:t>
                </a:r>
                <a:r>
                  <a:rPr lang="he-IL" dirty="0" err="1"/>
                  <a:t>הוקטורית</a:t>
                </a:r>
                <a:r>
                  <a:rPr lang="he-IL" dirty="0"/>
                  <a:t> פועלת על </a:t>
                </a:r>
                <a:r>
                  <a:rPr lang="he-IL" dirty="0" err="1"/>
                  <a:t>וקטורי</a:t>
                </a:r>
                <a:r>
                  <a:rPr lang="he-IL" dirty="0"/>
                  <a:t> הבסיס באופן </a:t>
                </a:r>
                <a:r>
                  <a:rPr lang="he-IL" dirty="0" err="1"/>
                  <a:t>צילקי</a:t>
                </a:r>
                <a:r>
                  <a:rPr lang="he-IL" dirty="0"/>
                  <a:t> (</a:t>
                </a:r>
                <a:r>
                  <a:rPr lang="en-US" dirty="0"/>
                  <a:t>cyclic</a:t>
                </a:r>
                <a:r>
                  <a:rPr lang="he-IL" dirty="0"/>
                  <a:t>)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he-IL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he-IL" dirty="0"/>
                  <a:t>- הבחירה של הסדר היא שרירותית, ונקרא לבחירה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he-IL" dirty="0"/>
                  <a:t> </a:t>
                </a:r>
                <a:r>
                  <a:rPr lang="he-IL" u="sng" dirty="0"/>
                  <a:t>מערכת ימנית</a:t>
                </a:r>
                <a:r>
                  <a:rPr lang="he-IL" dirty="0"/>
                  <a:t>.  </a:t>
                </a:r>
                <a:r>
                  <a:rPr lang="he-IL" sz="2400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he-IL" sz="2400" dirty="0"/>
                  <a:t> תהיה המערכת השמאלית)</a:t>
                </a:r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661" r="-11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28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345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וקטורית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he-IL" dirty="0"/>
                  <a:t>המכפלה </a:t>
                </a:r>
                <a:r>
                  <a:rPr lang="he-IL" dirty="0" err="1"/>
                  <a:t>הווקטורית</a:t>
                </a:r>
                <a:r>
                  <a:rPr lang="he-IL" dirty="0"/>
                  <a:t> אנטי-חילופית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he-IL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acc>
                        <m:accPr>
                          <m:chr m:val="⃗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he-IL" sz="2400" dirty="0"/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he-IL" sz="2400" dirty="0"/>
                  <a:t>ולכן כל מכפלה </a:t>
                </a:r>
                <a:r>
                  <a:rPr lang="he-IL" sz="2400" dirty="0" err="1"/>
                  <a:t>וקטורית</a:t>
                </a:r>
                <a:r>
                  <a:rPr lang="he-IL" sz="2400" dirty="0"/>
                  <a:t> של וקטור עם עצמו מתאפסת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he-IL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=−</m:t>
                      </m:r>
                      <m:acc>
                        <m:accPr>
                          <m:chr m:val="⃗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he-IL" sz="2400" dirty="0"/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he-IL" sz="2000" dirty="0"/>
                  <a:t>(הגודל היחיד ששווה למינוס עצמו הוא 0)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he-IL" dirty="0"/>
                  <a:t>בעזרת האנטי-חילופיות והיחסים </a:t>
                </a:r>
                <a:r>
                  <a:rPr lang="he-IL" dirty="0" err="1"/>
                  <a:t>הציקלים</a:t>
                </a:r>
                <a:r>
                  <a:rPr lang="he-IL" dirty="0"/>
                  <a:t> נוכל לחשב במפורש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he-I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he-IL" dirty="0"/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endParaRPr lang="he-IL" dirty="0"/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endParaRPr lang="he-IL" sz="2000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401" r="-10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29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230702" y="5029200"/>
                <a:ext cx="255198" cy="439479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702" y="5029200"/>
                <a:ext cx="255198" cy="439479"/>
              </a:xfrm>
              <a:prstGeom prst="rect">
                <a:avLst/>
              </a:prstGeom>
              <a:blipFill rotWithShape="0">
                <a:blip r:embed="rId3"/>
                <a:stretch>
                  <a:fillRect t="-16667" r="-4071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75302" y="5029199"/>
                <a:ext cx="255198" cy="424283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302" y="5029199"/>
                <a:ext cx="255198" cy="424283"/>
              </a:xfrm>
              <a:prstGeom prst="rect">
                <a:avLst/>
              </a:prstGeom>
              <a:blipFill rotWithShape="0">
                <a:blip r:embed="rId4"/>
                <a:stretch>
                  <a:fillRect t="-4286" r="-1811905" b="-857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475302" y="5588419"/>
                <a:ext cx="255198" cy="44640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̂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) </m:t>
                      </m:r>
                      <m:acc>
                        <m:accPr>
                          <m:chr m:val="̂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302" y="5588419"/>
                <a:ext cx="255198" cy="446404"/>
              </a:xfrm>
              <a:prstGeom prst="rect">
                <a:avLst/>
              </a:prstGeom>
              <a:blipFill rotWithShape="0">
                <a:blip r:embed="rId5"/>
                <a:stretch>
                  <a:fillRect r="-2447619" b="-821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1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וקטורית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dirty="0"/>
              <a:t>את המכפלה </a:t>
            </a:r>
            <a:r>
              <a:rPr lang="he-IL" dirty="0" err="1"/>
              <a:t>הווקטורית</a:t>
            </a:r>
            <a:r>
              <a:rPr lang="he-IL" dirty="0"/>
              <a:t> אפשר לחשב גם בעזרת </a:t>
            </a:r>
            <a:r>
              <a:rPr lang="he-IL" u="sng" dirty="0"/>
              <a:t>דטרמיננטה.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dirty="0"/>
              <a:t>הדטרמיננטה היא פעולה על מטריצות ריבועיות שתוצאתה סקלר, והיא כלי חשוב באלגברה לינארית (נשארת קבועה בטרנספורמציות לינאריות)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dirty="0"/>
              <a:t>עבור </a:t>
            </a:r>
            <a:r>
              <a:rPr lang="he-IL" dirty="0" err="1"/>
              <a:t>מטרציה</a:t>
            </a:r>
            <a:r>
              <a:rPr lang="he-IL" dirty="0"/>
              <a:t> של 3</a:t>
            </a:r>
            <a:r>
              <a:rPr lang="en-US" dirty="0"/>
              <a:t>X</a:t>
            </a:r>
            <a:r>
              <a:rPr lang="he-IL" dirty="0"/>
              <a:t>3 מחשבים אותה כך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30</a:t>
            </a:fld>
            <a:endParaRPr lang="he-IL" dirty="0"/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4536858"/>
            <a:ext cx="1219200" cy="1162050"/>
          </a:xfrm>
          <a:prstGeom prst="rect">
            <a:avLst/>
          </a:prstGeom>
        </p:spPr>
      </p:pic>
      <p:pic>
        <p:nvPicPr>
          <p:cNvPr id="10" name="תמונה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0" y="4135002"/>
            <a:ext cx="2944812" cy="2041961"/>
          </a:xfrm>
          <a:prstGeom prst="rect">
            <a:avLst/>
          </a:prstGeom>
        </p:spPr>
      </p:pic>
      <p:pic>
        <p:nvPicPr>
          <p:cNvPr id="11" name="תמונה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8812" y="4913094"/>
            <a:ext cx="379095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05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וקטורית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e-IL" dirty="0"/>
                  <a:t>ואז המכפלה </a:t>
                </a:r>
                <a:r>
                  <a:rPr lang="he-IL" dirty="0" err="1"/>
                  <a:t>הווקטורית</a:t>
                </a:r>
                <a:r>
                  <a:rPr lang="he-IL" dirty="0"/>
                  <a:t> נכתוב כך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he-IL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 r="-10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31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17672" y="4851819"/>
                <a:ext cx="269626" cy="517257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̂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 </m:t>
                      </m:r>
                      <m:acc>
                        <m:accPr>
                          <m:chr m:val="̂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he-IL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672" y="4851819"/>
                <a:ext cx="269626" cy="517257"/>
              </a:xfrm>
              <a:prstGeom prst="rect">
                <a:avLst/>
              </a:prstGeom>
              <a:blipFill rotWithShape="0">
                <a:blip r:embed="rId3"/>
                <a:stretch>
                  <a:fillRect r="-273636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091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וקטורית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he-IL" u="sng" dirty="0"/>
                  <a:t>תכונות נוספות של המכפלה </a:t>
                </a:r>
                <a:r>
                  <a:rPr lang="he-IL" u="sng" dirty="0" err="1"/>
                  <a:t>הווקטורית</a:t>
                </a:r>
                <a:endParaRPr lang="he-IL" u="sng" dirty="0"/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היא לא </a:t>
                </a:r>
                <a:r>
                  <a:rPr lang="he-IL" u="sng" dirty="0"/>
                  <a:t>אסוציאטיבית: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≠(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היא </a:t>
                </a:r>
                <a:r>
                  <a:rPr lang="he-IL" u="sng" dirty="0" err="1"/>
                  <a:t>דיסטריביוטיבית</a:t>
                </a:r>
                <a:r>
                  <a:rPr lang="he-IL" u="sng" dirty="0"/>
                  <a:t>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מקיימת את הקשר הגאומטרי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661" r="-81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32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3919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וקטורית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he-IL" u="sng" dirty="0"/>
                  <a:t>נוכיח את הקשר האחרון:</a:t>
                </a:r>
              </a:p>
              <a:p>
                <a:pPr marL="0" indent="0">
                  <a:buNone/>
                </a:pPr>
                <a:r>
                  <a:rPr lang="he-IL" dirty="0"/>
                  <a:t>מחישוב ישיר (שלא נבצע) עם רכיבי </a:t>
                </a:r>
                <a:r>
                  <a:rPr lang="he-IL" dirty="0" err="1"/>
                  <a:t>הוקטורים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he-IL" dirty="0"/>
                  <a:t> ו-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he-IL" dirty="0"/>
                  <a:t> אפשר להראות שמתקיים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he-IL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he-IL" dirty="0"/>
                  <a:t>נעביר אגפים ונשתמש בקשר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 r="-11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33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47613" y="5188670"/>
                <a:ext cx="4748504" cy="71865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rad>
                    </m:oMath>
                  </m:oMathPara>
                </a14:m>
                <a:endParaRPr lang="he-IL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13" y="5188670"/>
                <a:ext cx="4748504" cy="71865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38298" y="5181226"/>
                <a:ext cx="4748504" cy="71865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he-IL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298" y="5181226"/>
                <a:ext cx="4748504" cy="71865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388231" y="5188296"/>
                <a:ext cx="4748504" cy="71865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func>
                        </m:e>
                      </m:rad>
                    </m:oMath>
                  </m:oMathPara>
                </a14:m>
                <a:endParaRPr lang="he-IL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231" y="5188296"/>
                <a:ext cx="4748504" cy="71865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57901" y="5338737"/>
                <a:ext cx="4748504" cy="46410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</m:oMath>
                  </m:oMathPara>
                </a14:m>
                <a:endParaRPr lang="he-IL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901" y="5338737"/>
                <a:ext cx="4748504" cy="464101"/>
              </a:xfrm>
              <a:prstGeom prst="rect">
                <a:avLst/>
              </a:prstGeom>
              <a:blipFill rotWithShape="0">
                <a:blip r:embed="rId6"/>
                <a:stretch>
                  <a:fillRect t="-15789" b="-789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קבוצה 13"/>
          <p:cNvGrpSpPr/>
          <p:nvPr/>
        </p:nvGrpSpPr>
        <p:grpSpPr>
          <a:xfrm>
            <a:off x="5345736" y="5727659"/>
            <a:ext cx="4748504" cy="865358"/>
            <a:chOff x="5345736" y="5727659"/>
            <a:chExt cx="4748504" cy="865358"/>
          </a:xfrm>
        </p:grpSpPr>
        <p:cxnSp>
          <p:nvCxnSpPr>
            <p:cNvPr id="10" name="מחבר חץ ישר 9"/>
            <p:cNvCxnSpPr/>
            <p:nvPr/>
          </p:nvCxnSpPr>
          <p:spPr>
            <a:xfrm flipH="1" flipV="1">
              <a:off x="7837715" y="5727659"/>
              <a:ext cx="1360" cy="4563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5345736" y="6192907"/>
                  <a:ext cx="4748504" cy="400110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func>
                          </m:e>
                        </m:func>
                      </m:oMath>
                    </m:oMathPara>
                  </a14:m>
                  <a:endParaRPr lang="he-IL" sz="2000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5736" y="6192907"/>
                  <a:ext cx="4748504" cy="40011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15152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7376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וקטורית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0606"/>
                <a:ext cx="10515600" cy="4885507"/>
              </a:xfrm>
            </p:spPr>
            <p:txBody>
              <a:bodyPr>
                <a:normAutofit/>
              </a:bodyPr>
              <a:lstStyle/>
              <a:p>
                <a:r>
                  <a:rPr lang="he-IL" u="sng" dirty="0"/>
                  <a:t>אינטרפרטציה גאומטרית של המכפלה </a:t>
                </a:r>
                <a:r>
                  <a:rPr lang="he-IL" u="sng" dirty="0" err="1"/>
                  <a:t>הווקטורית</a:t>
                </a:r>
                <a:endParaRPr lang="he-IL" u="sng" dirty="0"/>
              </a:p>
              <a:p>
                <a:pPr marL="0" indent="0">
                  <a:buNone/>
                </a:pPr>
                <a:r>
                  <a:rPr lang="he-IL" dirty="0"/>
                  <a:t>מהקשר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he-IL" dirty="0"/>
                  <a:t> נזהה</a:t>
                </a:r>
              </a:p>
              <a:p>
                <a:pPr marL="0" indent="0">
                  <a:buNone/>
                </a:pPr>
                <a:endParaRPr lang="he-IL" dirty="0"/>
              </a:p>
              <a:p>
                <a:pPr marL="0" indent="0">
                  <a:buNone/>
                </a:pPr>
                <a:endParaRPr lang="he-IL" dirty="0"/>
              </a:p>
              <a:p>
                <a:pPr marL="0" indent="0">
                  <a:buNone/>
                </a:pPr>
                <a:endParaRPr lang="he-IL" dirty="0"/>
              </a:p>
              <a:p>
                <a:pPr marL="0" indent="0">
                  <a:buNone/>
                </a:pPr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כיוון המכפלה </a:t>
                </a:r>
                <a:r>
                  <a:rPr lang="he-IL" dirty="0" err="1"/>
                  <a:t>הוקטורית</a:t>
                </a:r>
                <a:r>
                  <a:rPr lang="he-IL" dirty="0"/>
                  <a:t> אנך למישור שנפרש ע"י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he-IL" dirty="0"/>
                  <a:t> ו-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he-IL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he-IL" dirty="0"/>
                  <a:t>, לפי כלל יד ימין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he-IL" dirty="0"/>
                  <a:t>במקרה שלנו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∥⊗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</m:t>
                    </m:r>
                  </m:oMath>
                </a14:m>
                <a:endParaRPr lang="he-IL" dirty="0"/>
              </a:p>
              <a:p>
                <a:pPr marL="0" indent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0606"/>
                <a:ext cx="10515600" cy="4885507"/>
              </a:xfrm>
              <a:blipFill rotWithShape="0">
                <a:blip r:embed="rId2"/>
                <a:stretch>
                  <a:fillRect t="-2120" r="-11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34</a:t>
            </a:fld>
            <a:endParaRPr lang="he-IL"/>
          </a:p>
        </p:txBody>
      </p:sp>
      <p:grpSp>
        <p:nvGrpSpPr>
          <p:cNvPr id="21" name="קבוצה 20"/>
          <p:cNvGrpSpPr/>
          <p:nvPr/>
        </p:nvGrpSpPr>
        <p:grpSpPr>
          <a:xfrm>
            <a:off x="2084261" y="3004455"/>
            <a:ext cx="2579179" cy="1847481"/>
            <a:chOff x="2084261" y="3344091"/>
            <a:chExt cx="2579179" cy="1847481"/>
          </a:xfrm>
        </p:grpSpPr>
        <p:cxnSp>
          <p:nvCxnSpPr>
            <p:cNvPr id="14" name="מחבר חץ ישר 13"/>
            <p:cNvCxnSpPr/>
            <p:nvPr/>
          </p:nvCxnSpPr>
          <p:spPr>
            <a:xfrm flipV="1">
              <a:off x="2209800" y="3344091"/>
              <a:ext cx="781594" cy="1384663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2209800" y="3633298"/>
                  <a:ext cx="248786" cy="40312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he-IL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3633298"/>
                  <a:ext cx="248786" cy="40312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t="-21212" r="-42500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מחבר חץ ישר 16"/>
            <p:cNvCxnSpPr/>
            <p:nvPr/>
          </p:nvCxnSpPr>
          <p:spPr>
            <a:xfrm>
              <a:off x="2209800" y="4728754"/>
              <a:ext cx="245364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3283131" y="4788448"/>
                  <a:ext cx="248786" cy="403124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he-IL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3131" y="4788448"/>
                  <a:ext cx="248786" cy="40312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r="-32500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קשת 18"/>
            <p:cNvSpPr/>
            <p:nvPr/>
          </p:nvSpPr>
          <p:spPr>
            <a:xfrm rot="1388130">
              <a:off x="2084261" y="4512049"/>
              <a:ext cx="395944" cy="300445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2443164" y="431647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3164" y="4316472"/>
                  <a:ext cx="248786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7317" r="-41463" b="-13115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" name="מחבר חץ ישר 21"/>
          <p:cNvCxnSpPr/>
          <p:nvPr/>
        </p:nvCxnSpPr>
        <p:spPr>
          <a:xfrm>
            <a:off x="2991394" y="3004455"/>
            <a:ext cx="2453640" cy="0"/>
          </a:xfrm>
          <a:prstGeom prst="straightConnector1">
            <a:avLst/>
          </a:prstGeom>
          <a:ln w="19050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מחבר חץ ישר 22"/>
          <p:cNvCxnSpPr/>
          <p:nvPr/>
        </p:nvCxnSpPr>
        <p:spPr>
          <a:xfrm flipV="1">
            <a:off x="4669675" y="3004454"/>
            <a:ext cx="781594" cy="1384663"/>
          </a:xfrm>
          <a:prstGeom prst="straightConnector1">
            <a:avLst/>
          </a:prstGeom>
          <a:ln w="19050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מחבר ישר 24"/>
          <p:cNvCxnSpPr/>
          <p:nvPr/>
        </p:nvCxnSpPr>
        <p:spPr>
          <a:xfrm>
            <a:off x="2991394" y="3004454"/>
            <a:ext cx="0" cy="138466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972592" y="3439840"/>
                <a:ext cx="248786" cy="42704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2592" y="3439840"/>
                <a:ext cx="248786" cy="427040"/>
              </a:xfrm>
              <a:prstGeom prst="rect">
                <a:avLst/>
              </a:prstGeom>
              <a:blipFill rotWithShape="0">
                <a:blip r:embed="rId6"/>
                <a:stretch>
                  <a:fillRect t="-20000" r="-315000" b="-71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חץ ימינה 26"/>
          <p:cNvSpPr/>
          <p:nvPr/>
        </p:nvSpPr>
        <p:spPr>
          <a:xfrm>
            <a:off x="6096000" y="3653360"/>
            <a:ext cx="513806" cy="21352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609806" y="3557083"/>
                <a:ext cx="2834640" cy="42704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i="1">
                          <a:latin typeface="Cambria Math" panose="02040503050406030204" pitchFamily="18" charset="0"/>
                        </a:rPr>
                        <m:t>המקבילית</m:t>
                      </m:r>
                      <m:r>
                        <a:rPr lang="he-IL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e-IL" i="1">
                          <a:latin typeface="Cambria Math" panose="02040503050406030204" pitchFamily="18" charset="0"/>
                        </a:rPr>
                        <m:t>שטח</m:t>
                      </m:r>
                      <m:r>
                        <a:rPr lang="he-IL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9806" y="3557083"/>
                <a:ext cx="2834640" cy="427040"/>
              </a:xfrm>
              <a:prstGeom prst="rect">
                <a:avLst/>
              </a:prstGeom>
              <a:blipFill rotWithShape="0">
                <a:blip r:embed="rId7"/>
                <a:stretch>
                  <a:fillRect t="-20000" b="-171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392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6" grpId="0"/>
      <p:bldP spid="27" grpId="0" animBg="1"/>
      <p:bldP spid="2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וקטורית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e-IL" b="1" u="sng" dirty="0"/>
                  <a:t>תרגיל 3</a:t>
                </a:r>
              </a:p>
              <a:p>
                <a:pPr marL="0" indent="0">
                  <a:buNone/>
                </a:pPr>
                <a:r>
                  <a:rPr lang="he-IL" dirty="0"/>
                  <a:t>מצאו את הזווית בין הווקטור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3,5,7</m:t>
                        </m:r>
                      </m:e>
                    </m:d>
                  </m:oMath>
                </a14:m>
                <a:r>
                  <a:rPr lang="he-IL" dirty="0"/>
                  <a:t> לבין המישור שנפרש באמצעות הווקטורים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=(−2,−3,7)</m:t>
                    </m:r>
                  </m:oMath>
                </a14:m>
                <a:r>
                  <a:rPr lang="he-IL" dirty="0"/>
                  <a:t> ו-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he-IL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(4,11,3)</m:t>
                    </m:r>
                  </m:oMath>
                </a14:m>
                <a:r>
                  <a:rPr lang="he-IL" dirty="0"/>
                  <a:t>.</a:t>
                </a:r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 r="-11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417" y="3437694"/>
            <a:ext cx="2554395" cy="3065274"/>
          </a:xfrm>
          <a:prstGeom prst="rect">
            <a:avLst/>
          </a:prstGeom>
        </p:spPr>
      </p:pic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35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689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וקטורית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e-IL" b="1" u="sng" dirty="0"/>
                  <a:t>תרגיל 3 – פתרון</a:t>
                </a:r>
                <a:endParaRPr lang="he-IL" dirty="0"/>
              </a:p>
              <a:p>
                <a:pPr marL="0" indent="0">
                  <a:buNone/>
                </a:pPr>
                <a:r>
                  <a:rPr lang="he-IL" dirty="0"/>
                  <a:t>- לפי הציור, האנך למישור הוא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he-IL" dirty="0"/>
                  <a:t> (כלל יד ימין).</a:t>
                </a:r>
              </a:p>
              <a:p>
                <a:pPr marL="0" indent="0">
                  <a:buNone/>
                </a:pPr>
                <a:r>
                  <a:rPr lang="he-IL" dirty="0"/>
                  <a:t>- נרצה למצוא את הזווית בין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he-IL" dirty="0"/>
                  <a:t> לבין </a:t>
                </a:r>
                <a:r>
                  <a:rPr lang="he-IL" u="sng" dirty="0"/>
                  <a:t>המישור</a:t>
                </a:r>
                <a:r>
                  <a:rPr lang="he-IL" dirty="0"/>
                  <a:t>, שהיא גם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he-IL" dirty="0"/>
                  <a:t>, כאשר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he-IL" dirty="0"/>
                  <a:t> היא הזווית בין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he-IL" dirty="0"/>
                  <a:t> לבין </a:t>
                </a:r>
                <a:r>
                  <a:rPr lang="he-IL" u="sng" dirty="0"/>
                  <a:t>האנך למישור</a:t>
                </a:r>
                <a:r>
                  <a:rPr lang="he-IL" dirty="0"/>
                  <a:t>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he-IL" b="0" i="1" dirty="0" smtClean="0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he-IL" dirty="0"/>
                  <a:t>).</a:t>
                </a:r>
              </a:p>
              <a:p>
                <a:pPr marL="0" indent="0">
                  <a:buNone/>
                </a:pPr>
                <a:r>
                  <a:rPr lang="he-IL" dirty="0"/>
                  <a:t>- את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he-IL" dirty="0"/>
                  <a:t> נמצא באמצעות המכפלה </a:t>
                </a:r>
                <a:r>
                  <a:rPr lang="he-IL" dirty="0" err="1"/>
                  <a:t>הווקטורית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⋅(</m:t>
                    </m:r>
                    <m:acc>
                      <m:accPr>
                        <m:chr m:val="⃗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dirty="0"/>
                  <a:t>.</a:t>
                </a:r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32" t="-2661" r="-11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תמונה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35" y="3574172"/>
            <a:ext cx="2554395" cy="30652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701638" y="5245266"/>
                <a:ext cx="248786" cy="56297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638" y="5245266"/>
                <a:ext cx="248786" cy="562975"/>
              </a:xfrm>
              <a:prstGeom prst="rect">
                <a:avLst/>
              </a:prstGeom>
              <a:blipFill rotWithShape="0">
                <a:blip r:embed="rId4"/>
                <a:stretch>
                  <a:fillRect r="-33658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80036" y="5120457"/>
                <a:ext cx="248786" cy="81259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⃗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acc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×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acc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acc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×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acc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0036" y="5120457"/>
                <a:ext cx="248786" cy="812595"/>
              </a:xfrm>
              <a:prstGeom prst="rect">
                <a:avLst/>
              </a:prstGeom>
              <a:blipFill rotWithShape="0">
                <a:blip r:embed="rId5"/>
                <a:stretch>
                  <a:fillRect r="-9975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36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486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וקטורית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he-IL" dirty="0"/>
                  <a:t>נחשב את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⋅(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dirty="0"/>
                  <a:t>:</a:t>
                </a:r>
              </a:p>
              <a:p>
                <a:pPr marL="0" indent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t="-1120" r="-11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70390" y="2799714"/>
                <a:ext cx="255198" cy="47692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390" y="2799714"/>
                <a:ext cx="255198" cy="476925"/>
              </a:xfrm>
              <a:prstGeom prst="rect">
                <a:avLst/>
              </a:prstGeom>
              <a:blipFill rotWithShape="0">
                <a:blip r:embed="rId4"/>
                <a:stretch>
                  <a:fillRect t="-3797" r="-1985714" b="-759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06564" y="1825625"/>
                <a:ext cx="242374" cy="33855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=(3,5,7)</m:t>
                      </m:r>
                    </m:oMath>
                  </m:oMathPara>
                </a14:m>
                <a:endParaRPr lang="he-IL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64" y="1825625"/>
                <a:ext cx="242374" cy="338554"/>
              </a:xfrm>
              <a:prstGeom prst="rect">
                <a:avLst/>
              </a:prstGeom>
              <a:blipFill rotWithShape="0">
                <a:blip r:embed="rId5"/>
                <a:stretch>
                  <a:fillRect t="-12500" r="-375000" b="-1071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06564" y="2160617"/>
                <a:ext cx="242374" cy="37497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=(−2,−3,7)</m:t>
                      </m:r>
                    </m:oMath>
                  </m:oMathPara>
                </a14:m>
                <a:endParaRPr lang="he-IL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64" y="2160617"/>
                <a:ext cx="242374" cy="374974"/>
              </a:xfrm>
              <a:prstGeom prst="rect">
                <a:avLst/>
              </a:prstGeom>
              <a:blipFill rotWithShape="0">
                <a:blip r:embed="rId6"/>
                <a:stretch>
                  <a:fillRect r="-512500" b="-967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206564" y="2606252"/>
                <a:ext cx="242374" cy="33855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=(4,11,3)</m:t>
                      </m:r>
                    </m:oMath>
                  </m:oMathPara>
                </a14:m>
                <a:endParaRPr lang="he-IL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64" y="2606252"/>
                <a:ext cx="242374" cy="338554"/>
              </a:xfrm>
              <a:prstGeom prst="rect">
                <a:avLst/>
              </a:prstGeom>
              <a:blipFill rotWithShape="0">
                <a:blip r:embed="rId7"/>
                <a:stretch>
                  <a:fillRect t="-12727" r="-412500" b="-1272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סוגר מסולסל שמאלי 9"/>
          <p:cNvSpPr/>
          <p:nvPr/>
        </p:nvSpPr>
        <p:spPr>
          <a:xfrm>
            <a:off x="999448" y="1877952"/>
            <a:ext cx="207116" cy="1066854"/>
          </a:xfrm>
          <a:prstGeom prst="leftBrace">
            <a:avLst>
              <a:gd name="adj1" fmla="val 74343"/>
              <a:gd name="adj2" fmla="val 4872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811835" y="3291463"/>
                <a:ext cx="255198" cy="439736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11⋅7−3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,3⋅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−4⋅7,4⋅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−11⋅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835" y="3291463"/>
                <a:ext cx="255198" cy="439736"/>
              </a:xfrm>
              <a:prstGeom prst="rect">
                <a:avLst/>
              </a:prstGeom>
              <a:blipFill rotWithShape="0">
                <a:blip r:embed="rId8"/>
                <a:stretch>
                  <a:fillRect r="-236428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811835" y="3781426"/>
                <a:ext cx="255198" cy="40011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86,−34,10</m:t>
                          </m:r>
                        </m:e>
                      </m: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835" y="3781426"/>
                <a:ext cx="255198" cy="400110"/>
              </a:xfrm>
              <a:prstGeom prst="rect">
                <a:avLst/>
              </a:prstGeom>
              <a:blipFill rotWithShape="0">
                <a:blip r:embed="rId9"/>
                <a:stretch>
                  <a:fillRect r="-57857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638127" y="4494311"/>
                <a:ext cx="255198" cy="47692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127" y="4494311"/>
                <a:ext cx="255198" cy="476925"/>
              </a:xfrm>
              <a:prstGeom prst="rect">
                <a:avLst/>
              </a:prstGeom>
              <a:blipFill rotWithShape="0">
                <a:blip r:embed="rId10"/>
                <a:stretch>
                  <a:fillRect t="-3846" r="-2800000" b="-512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811835" y="5101503"/>
                <a:ext cx="255198" cy="40011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=3⋅86+5⋅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−34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+7⋅10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835" y="5101503"/>
                <a:ext cx="255198" cy="400110"/>
              </a:xfrm>
              <a:prstGeom prst="rect">
                <a:avLst/>
              </a:prstGeom>
              <a:blipFill rotWithShape="0">
                <a:blip r:embed="rId11"/>
                <a:stretch>
                  <a:fillRect r="-117857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811835" y="5601912"/>
                <a:ext cx="255198" cy="40011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=158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835" y="5601912"/>
                <a:ext cx="255198" cy="400110"/>
              </a:xfrm>
              <a:prstGeom prst="rect">
                <a:avLst/>
              </a:prstGeom>
              <a:blipFill rotWithShape="0">
                <a:blip r:embed="rId12"/>
                <a:stretch>
                  <a:fillRect r="-23809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37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761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8" grpId="0"/>
      <p:bldP spid="9" grpId="0"/>
      <p:bldP spid="11" grpId="0"/>
      <p:bldP spid="12" grpId="0"/>
      <p:bldP spid="13" grpId="0"/>
      <p:bldP spid="14" grpId="0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וקטורית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he-IL" dirty="0"/>
                  <a:t>נחשב את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⋅(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dirty="0"/>
                  <a:t>:</a:t>
                </a:r>
              </a:p>
              <a:p>
                <a:pPr marL="0" indent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120" r="-11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25382" y="2535591"/>
                <a:ext cx="255198" cy="7186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|=</m:t>
                      </m:r>
                      <m:rad>
                        <m:radPr>
                          <m:deg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382" y="2535591"/>
                <a:ext cx="255198" cy="718658"/>
              </a:xfrm>
              <a:prstGeom prst="rect">
                <a:avLst/>
              </a:prstGeom>
              <a:blipFill rotWithShape="0">
                <a:blip r:embed="rId3"/>
                <a:stretch>
                  <a:fillRect r="-81666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06564" y="1825625"/>
                <a:ext cx="242374" cy="33855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=(3,5,7)</m:t>
                      </m:r>
                    </m:oMath>
                  </m:oMathPara>
                </a14:m>
                <a:endParaRPr lang="he-IL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64" y="1825625"/>
                <a:ext cx="242374" cy="338554"/>
              </a:xfrm>
              <a:prstGeom prst="rect">
                <a:avLst/>
              </a:prstGeom>
              <a:blipFill rotWithShape="0">
                <a:blip r:embed="rId4"/>
                <a:stretch>
                  <a:fillRect t="-12500" r="-375000" b="-1071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06564" y="2160617"/>
                <a:ext cx="242374" cy="37497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=(−2,−3,7)</m:t>
                      </m:r>
                    </m:oMath>
                  </m:oMathPara>
                </a14:m>
                <a:endParaRPr lang="he-IL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64" y="2160617"/>
                <a:ext cx="242374" cy="374974"/>
              </a:xfrm>
              <a:prstGeom prst="rect">
                <a:avLst/>
              </a:prstGeom>
              <a:blipFill rotWithShape="0">
                <a:blip r:embed="rId5"/>
                <a:stretch>
                  <a:fillRect r="-512500" b="-967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206564" y="2606252"/>
                <a:ext cx="242374" cy="33855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=(4,11,3)</m:t>
                      </m:r>
                    </m:oMath>
                  </m:oMathPara>
                </a14:m>
                <a:endParaRPr lang="he-IL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64" y="2606252"/>
                <a:ext cx="242374" cy="338554"/>
              </a:xfrm>
              <a:prstGeom prst="rect">
                <a:avLst/>
              </a:prstGeom>
              <a:blipFill rotWithShape="0">
                <a:blip r:embed="rId6"/>
                <a:stretch>
                  <a:fillRect t="-12727" r="-412500" b="-1272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סוגר מסולסל שמאלי 9"/>
          <p:cNvSpPr/>
          <p:nvPr/>
        </p:nvSpPr>
        <p:spPr>
          <a:xfrm>
            <a:off x="999448" y="1877951"/>
            <a:ext cx="207116" cy="1476069"/>
          </a:xfrm>
          <a:prstGeom prst="leftBrace">
            <a:avLst>
              <a:gd name="adj1" fmla="val 74343"/>
              <a:gd name="adj2" fmla="val 4872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5799" y="3689709"/>
                <a:ext cx="255198" cy="47359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86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(−34)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799" y="3689709"/>
                <a:ext cx="255198" cy="473591"/>
              </a:xfrm>
              <a:prstGeom prst="rect">
                <a:avLst/>
              </a:prstGeom>
              <a:blipFill rotWithShape="0">
                <a:blip r:embed="rId7"/>
                <a:stretch>
                  <a:fillRect r="-83095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225382" y="3694126"/>
                <a:ext cx="255198" cy="47692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382" y="3694126"/>
                <a:ext cx="255198" cy="476925"/>
              </a:xfrm>
              <a:prstGeom prst="rect">
                <a:avLst/>
              </a:prstGeom>
              <a:blipFill rotWithShape="0">
                <a:blip r:embed="rId8"/>
                <a:stretch>
                  <a:fillRect t="-3846" r="-34285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208839" y="3015467"/>
                <a:ext cx="242374" cy="37497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=(86,−34,10)</m:t>
                      </m:r>
                    </m:oMath>
                  </m:oMathPara>
                </a14:m>
                <a:endParaRPr lang="he-IL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839" y="3015467"/>
                <a:ext cx="242374" cy="374974"/>
              </a:xfrm>
              <a:prstGeom prst="rect">
                <a:avLst/>
              </a:prstGeom>
              <a:blipFill rotWithShape="0">
                <a:blip r:embed="rId9"/>
                <a:stretch>
                  <a:fillRect t="-1639" r="-727500" b="-1147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645421" y="2634579"/>
                <a:ext cx="255198" cy="43640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83</m:t>
                          </m:r>
                        </m:e>
                      </m:ra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5421" y="2634579"/>
                <a:ext cx="255198" cy="436402"/>
              </a:xfrm>
              <a:prstGeom prst="rect">
                <a:avLst/>
              </a:prstGeom>
              <a:blipFill rotWithShape="0">
                <a:blip r:embed="rId10"/>
                <a:stretch>
                  <a:fillRect r="-250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685817" y="2615985"/>
                <a:ext cx="255198" cy="47359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817" y="2615985"/>
                <a:ext cx="255198" cy="473591"/>
              </a:xfrm>
              <a:prstGeom prst="rect">
                <a:avLst/>
              </a:prstGeom>
              <a:blipFill rotWithShape="0">
                <a:blip r:embed="rId11"/>
                <a:stretch>
                  <a:fillRect r="-65238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741652" y="3689708"/>
                <a:ext cx="255198" cy="44268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8652</m:t>
                          </m:r>
                        </m:e>
                      </m:ra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652" y="3689708"/>
                <a:ext cx="255198" cy="442685"/>
              </a:xfrm>
              <a:prstGeom prst="rect">
                <a:avLst/>
              </a:prstGeom>
              <a:blipFill rotWithShape="0">
                <a:blip r:embed="rId12"/>
                <a:stretch>
                  <a:fillRect r="-35952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297735" y="4505603"/>
                <a:ext cx="248786" cy="799193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acc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×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acc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acc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×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acc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735" y="4505603"/>
                <a:ext cx="248786" cy="799193"/>
              </a:xfrm>
              <a:prstGeom prst="rect">
                <a:avLst/>
              </a:prstGeom>
              <a:blipFill rotWithShape="0">
                <a:blip r:embed="rId13"/>
                <a:stretch>
                  <a:fillRect r="-91219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830270" y="4548389"/>
                <a:ext cx="248786" cy="719043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158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83</m:t>
                                      </m:r>
                                    </m:e>
                                  </m:rad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8652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270" y="4548389"/>
                <a:ext cx="248786" cy="719043"/>
              </a:xfrm>
              <a:prstGeom prst="rect">
                <a:avLst/>
              </a:prstGeom>
              <a:blipFill rotWithShape="0">
                <a:blip r:embed="rId14"/>
                <a:stretch>
                  <a:fillRect r="-82439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חץ ימינה 21"/>
          <p:cNvSpPr/>
          <p:nvPr/>
        </p:nvSpPr>
        <p:spPr>
          <a:xfrm>
            <a:off x="3584156" y="4825735"/>
            <a:ext cx="513806" cy="21352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416604" y="5596598"/>
                <a:ext cx="2487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≈0.19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𝑟𝑎𝑑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(10.93°)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604" y="5596598"/>
                <a:ext cx="248786" cy="369332"/>
              </a:xfrm>
              <a:prstGeom prst="rect">
                <a:avLst/>
              </a:prstGeom>
              <a:blipFill rotWithShape="0">
                <a:blip r:embed="rId15"/>
                <a:stretch>
                  <a:fillRect r="-792500" b="-147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047320" y="4747829"/>
                <a:ext cx="2487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𝑟𝑎𝑑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7320" y="4747829"/>
                <a:ext cx="248786" cy="369332"/>
              </a:xfrm>
              <a:prstGeom prst="rect">
                <a:avLst/>
              </a:prstGeom>
              <a:blipFill rotWithShape="0">
                <a:blip r:embed="rId16"/>
                <a:stretch>
                  <a:fillRect r="-11951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297735" y="5499777"/>
                <a:ext cx="248786" cy="56297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735" y="5499777"/>
                <a:ext cx="248786" cy="562975"/>
              </a:xfrm>
              <a:prstGeom prst="rect">
                <a:avLst/>
              </a:prstGeom>
              <a:blipFill rotWithShape="0">
                <a:blip r:embed="rId17"/>
                <a:stretch>
                  <a:fillRect r="-33658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חץ ימינה 24"/>
          <p:cNvSpPr/>
          <p:nvPr/>
        </p:nvSpPr>
        <p:spPr>
          <a:xfrm>
            <a:off x="3584156" y="5674504"/>
            <a:ext cx="513806" cy="21352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9238412" y="4747829"/>
                <a:ext cx="2487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≈1.38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8412" y="4747829"/>
                <a:ext cx="248786" cy="369332"/>
              </a:xfrm>
              <a:prstGeom prst="rect">
                <a:avLst/>
              </a:prstGeom>
              <a:blipFill rotWithShape="0">
                <a:blip r:embed="rId18"/>
                <a:stretch>
                  <a:fillRect r="-23658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38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98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8" grpId="0"/>
      <p:bldP spid="9" grpId="0"/>
      <p:bldP spid="12" grpId="0"/>
      <p:bldP spid="13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/>
      <p:bldP spid="4" grpId="0"/>
      <p:bldP spid="24" grpId="0"/>
      <p:bldP spid="25" grpId="0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וקטורית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he-IL" b="1" u="sng" dirty="0"/>
                  <a:t>תרגיל 4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he-IL" sz="2400" dirty="0"/>
                  <a:t>מהו ההיטל של הווקטור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he-IL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(5,9,−3)</m:t>
                    </m:r>
                  </m:oMath>
                </a14:m>
                <a:r>
                  <a:rPr lang="he-IL" sz="2400" dirty="0"/>
                  <a:t> על המישור שנפרש ע"י הווקטורים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he-IL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(2,6,9)</m:t>
                      </m:r>
                    </m:oMath>
                  </m:oMathPara>
                </a14:m>
                <a:endParaRPr lang="he-IL" sz="24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he-IL" sz="24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2400" dirty="0"/>
              </a:p>
              <a:p>
                <a:endParaRPr lang="he-IL" b="1" u="sng" dirty="0"/>
              </a:p>
              <a:p>
                <a:r>
                  <a:rPr lang="he-IL" b="1" u="sng" dirty="0"/>
                  <a:t>תרגיל 4 – פתרון</a:t>
                </a:r>
              </a:p>
              <a:p>
                <a:pPr marL="0" indent="0">
                  <a:buNone/>
                </a:pPr>
                <a:r>
                  <a:rPr lang="he-IL" sz="2400" dirty="0"/>
                  <a:t>- ראינו שהיטל הוא כמו "צל" של וקטור על וקטור (או מישור) אחר. </a:t>
                </a:r>
              </a:p>
              <a:p>
                <a:pPr>
                  <a:buFontTx/>
                  <a:buChar char="-"/>
                </a:pPr>
                <a:r>
                  <a:rPr lang="he-IL" sz="2400" dirty="0"/>
                  <a:t>נוכל לפרק את הווקטור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he-IL" sz="2400" dirty="0"/>
                  <a:t> לרכיב </a:t>
                </a:r>
                <a:r>
                  <a:rPr lang="he-IL" sz="2400" u="sng" dirty="0"/>
                  <a:t>המקביל למישור</a:t>
                </a:r>
                <a:r>
                  <a:rPr lang="he-IL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he-IL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sub>
                    </m:sSub>
                  </m:oMath>
                </a14:m>
                <a:r>
                  <a:rPr lang="he-IL" sz="2400" dirty="0"/>
                  <a:t> ולרכיב </a:t>
                </a:r>
                <a:r>
                  <a:rPr lang="he-IL" sz="2400" u="sng" dirty="0"/>
                  <a:t>האנך למישור</a:t>
                </a:r>
                <a:r>
                  <a:rPr lang="he-IL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he-IL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b>
                    </m:sSub>
                  </m:oMath>
                </a14:m>
                <a:r>
                  <a:rPr lang="he-IL" sz="2400" dirty="0"/>
                  <a:t>, כאשר הרכיב המקביל למישור הוא ההיטל של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he-IL" sz="2400" dirty="0"/>
                  <a:t> על המישור.</a:t>
                </a:r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 r="-10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39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9772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וקטורית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e-IL" sz="2400" dirty="0"/>
                  <a:t>- בעזרת המכפלה </a:t>
                </a:r>
                <a:r>
                  <a:rPr lang="he-IL" sz="2400" dirty="0" err="1"/>
                  <a:t>הוקטורית</a:t>
                </a:r>
                <a:r>
                  <a:rPr lang="he-IL" sz="2400" dirty="0"/>
                  <a:t> נוכל לחשב את הכיוון האנך למישור, לכן יהיה לנו קל יותר לחשב את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he-IL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b>
                    </m:sSub>
                  </m:oMath>
                </a14:m>
                <a:r>
                  <a:rPr lang="he-IL" sz="2400" dirty="0"/>
                  <a:t> ולחסר אותו מ-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he-IL" sz="2400" dirty="0"/>
                  <a:t> כדי למצוא את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he-IL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sub>
                    </m:sSub>
                  </m:oMath>
                </a14:m>
                <a:r>
                  <a:rPr lang="he-IL" sz="2400" dirty="0"/>
                  <a:t>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he-IL" sz="2400" dirty="0"/>
                  <a:t>- נחשב תחילה את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</m:oMath>
                </a14:m>
                <a:r>
                  <a:rPr lang="he-IL" sz="2400" dirty="0"/>
                  <a:t>:</a:t>
                </a:r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821" r="-87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962996" y="2783873"/>
                <a:ext cx="269626" cy="469616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996" y="2783873"/>
                <a:ext cx="269626" cy="469616"/>
              </a:xfrm>
              <a:prstGeom prst="rect">
                <a:avLst/>
              </a:prstGeom>
              <a:blipFill rotWithShape="0">
                <a:blip r:embed="rId3"/>
                <a:stretch>
                  <a:fillRect l="-2273" t="-18182" r="-543182" b="-909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616649" y="2783603"/>
                <a:ext cx="269626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649" y="2783603"/>
                <a:ext cx="269626" cy="461665"/>
              </a:xfrm>
              <a:prstGeom prst="rect">
                <a:avLst/>
              </a:prstGeom>
              <a:blipFill rotWithShape="0">
                <a:blip r:embed="rId4"/>
                <a:stretch>
                  <a:fillRect t="-17333" r="-748889" b="-533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03387" y="4211737"/>
                <a:ext cx="269626" cy="88325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87" y="4211737"/>
                <a:ext cx="269626" cy="883255"/>
              </a:xfrm>
              <a:prstGeom prst="rect">
                <a:avLst/>
              </a:prstGeom>
              <a:blipFill rotWithShape="0">
                <a:blip r:embed="rId5"/>
                <a:stretch>
                  <a:fillRect r="-61777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701405" y="4064112"/>
                <a:ext cx="269626" cy="126618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405" y="4064112"/>
                <a:ext cx="269626" cy="1266180"/>
              </a:xfrm>
              <a:prstGeom prst="rect">
                <a:avLst/>
              </a:prstGeom>
              <a:blipFill rotWithShape="0">
                <a:blip r:embed="rId6"/>
                <a:stretch>
                  <a:fillRect r="-133636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18318" y="4184050"/>
                <a:ext cx="269626" cy="1088503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318" y="4184050"/>
                <a:ext cx="269626" cy="1088503"/>
              </a:xfrm>
              <a:prstGeom prst="rect">
                <a:avLst/>
              </a:prstGeom>
              <a:blipFill rotWithShape="0">
                <a:blip r:embed="rId7"/>
                <a:stretch>
                  <a:fillRect r="-106363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145565" y="5481444"/>
                <a:ext cx="269626" cy="84664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(−48,−35,34)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565" y="5481444"/>
                <a:ext cx="269626" cy="846642"/>
              </a:xfrm>
              <a:prstGeom prst="rect">
                <a:avLst/>
              </a:prstGeom>
              <a:blipFill rotWithShape="0">
                <a:blip r:embed="rId8"/>
                <a:stretch>
                  <a:fillRect r="-119545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22708" y="5511013"/>
                <a:ext cx="269626" cy="786177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68.4471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(−48,−35,34)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708" y="5511013"/>
                <a:ext cx="269626" cy="786177"/>
              </a:xfrm>
              <a:prstGeom prst="rect">
                <a:avLst/>
              </a:prstGeom>
              <a:blipFill rotWithShape="0">
                <a:blip r:embed="rId9"/>
                <a:stretch>
                  <a:fillRect r="-1140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099851" y="5731342"/>
                <a:ext cx="255198" cy="40011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=(−0.7013,−0.5113,0.4967)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9851" y="5731342"/>
                <a:ext cx="255198" cy="400110"/>
              </a:xfrm>
              <a:prstGeom prst="rect">
                <a:avLst/>
              </a:prstGeom>
              <a:blipFill rotWithShape="0">
                <a:blip r:embed="rId10"/>
                <a:stretch>
                  <a:fillRect r="-1261905" b="-1818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מציין מיקום של מספר שקופית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40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4141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אריתמטיקה </a:t>
            </a:r>
            <a:r>
              <a:rPr lang="he-IL" dirty="0" err="1"/>
              <a:t>וקטורית</a:t>
            </a:r>
            <a:r>
              <a:rPr lang="he-IL" dirty="0"/>
              <a:t> – מכפלה </a:t>
            </a:r>
            <a:r>
              <a:rPr lang="he-IL" dirty="0" err="1"/>
              <a:t>וקטורית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e-IL" sz="2400" dirty="0"/>
                  <a:t>- ועכשיו נוכל לחשב את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</m:oMath>
                </a14:m>
                <a:endParaRPr lang="he-IL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-</a:t>
                </a:r>
                <a:r>
                  <a:rPr lang="he-IL" sz="2400" dirty="0"/>
                  <a:t> ומכאן את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</m:oMath>
                </a14:m>
                <a:r>
                  <a:rPr lang="he-IL" sz="2400" dirty="0"/>
                  <a:t> ולבסוף את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∥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661" r="-92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96938" y="2510648"/>
                <a:ext cx="274370" cy="127759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he-IL" sz="2400" dirty="0"/>
              </a:p>
              <a:p>
                <a:endParaRPr lang="he-IL" sz="2400" dirty="0"/>
              </a:p>
              <a:p>
                <a:endParaRPr lang="he-IL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938" y="2510648"/>
                <a:ext cx="274370" cy="1277594"/>
              </a:xfrm>
              <a:prstGeom prst="rect">
                <a:avLst/>
              </a:prstGeom>
              <a:blipFill rotWithShape="0">
                <a:blip r:embed="rId3"/>
                <a:stretch>
                  <a:fillRect l="-4444" t="-6699" r="-149777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630297" y="2510648"/>
                <a:ext cx="269626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=…=−9.5987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297" y="2510648"/>
                <a:ext cx="269626" cy="461665"/>
              </a:xfrm>
              <a:prstGeom prst="rect">
                <a:avLst/>
              </a:prstGeom>
              <a:blipFill rotWithShape="0">
                <a:blip r:embed="rId4"/>
                <a:stretch>
                  <a:fillRect r="-75909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מלבן 11"/>
              <p:cNvSpPr/>
              <p:nvPr/>
            </p:nvSpPr>
            <p:spPr>
              <a:xfrm>
                <a:off x="2634361" y="4486280"/>
                <a:ext cx="269626" cy="469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12" name="מלבן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361" y="4486280"/>
                <a:ext cx="269626" cy="469616"/>
              </a:xfrm>
              <a:prstGeom prst="rect">
                <a:avLst/>
              </a:prstGeom>
              <a:blipFill rotWithShape="0">
                <a:blip r:embed="rId5"/>
                <a:stretch>
                  <a:fillRect l="-2273" t="-18182" r="-906818" b="-909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250434" y="4490255"/>
                <a:ext cx="269626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=…=(−1.7313,4.0918,1.7680)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434" y="4490255"/>
                <a:ext cx="269626" cy="461665"/>
              </a:xfrm>
              <a:prstGeom prst="rect">
                <a:avLst/>
              </a:prstGeom>
              <a:blipFill rotWithShape="0">
                <a:blip r:embed="rId6"/>
                <a:stretch>
                  <a:fillRect r="-1551111" b="-2133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115C-EB6E-4A26-B6B8-FA7F9385C8F9}" type="slidenum">
              <a:rPr lang="he-IL" smtClean="0"/>
              <a:t>41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7451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12" grpId="0"/>
      <p:bldP spid="13" grpId="0"/>
    </p:bld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5391</TotalTime>
  <Words>963</Words>
  <Application>Microsoft Office PowerPoint</Application>
  <PresentationFormat>Widescreen</PresentationFormat>
  <Paragraphs>431</Paragraphs>
  <Slides>41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ערכת נושא Office</vt:lpstr>
      <vt:lpstr>קלאסית 1 – תרגול 1</vt:lpstr>
      <vt:lpstr>הקדמה להקדמה</vt:lpstr>
      <vt:lpstr>נגזרות ואינטגרלים</vt:lpstr>
      <vt:lpstr>נגזרות ואינטגרלים – תזכורת</vt:lpstr>
      <vt:lpstr>נגזרות ואינטגרלים – תזכורת</vt:lpstr>
      <vt:lpstr>מימדים ויחידות</vt:lpstr>
      <vt:lpstr>מימדים ויחידות</vt:lpstr>
      <vt:lpstr>וקטורים</vt:lpstr>
      <vt:lpstr>וקטורים – בסיס קרטזי</vt:lpstr>
      <vt:lpstr>אריתמטיקה וקטורית</vt:lpstr>
      <vt:lpstr>אריתמטיקה וקטורית – סכום וקטורים - דוגמא</vt:lpstr>
      <vt:lpstr>אריתמטיקה וקטורית – סכום וקטורים - דוגמא</vt:lpstr>
      <vt:lpstr>אריתמטיקה וקטורית – סכום וקטורים - דוגמא</vt:lpstr>
      <vt:lpstr>אריתמטיקה וקטורית</vt:lpstr>
      <vt:lpstr>אריתמטיקה וקטורית</vt:lpstr>
      <vt:lpstr>אריתמטיקה וקטורית – מכפלה סקלרית</vt:lpstr>
      <vt:lpstr>אריתמטיקה וקטורית – מכפלה סקלרית</vt:lpstr>
      <vt:lpstr>אריתמטיקה וקטורית – מכפלה סקלרית</vt:lpstr>
      <vt:lpstr>אריתמטיקה וקטורית – מכפלה סקלרית</vt:lpstr>
      <vt:lpstr>אריתמטיקה וקטורית – מכפלה סקלרית</vt:lpstr>
      <vt:lpstr>אריתמטיקה וקטורית – מכפלה סקלרית</vt:lpstr>
      <vt:lpstr>אריתמטיקה וקטורית – מכפלה סקלרית</vt:lpstr>
      <vt:lpstr>אריתמטיקה וקטורית – מכפלה סקלרית</vt:lpstr>
      <vt:lpstr>אריתמטיקה וקטורית – מכפלה סקלרית</vt:lpstr>
      <vt:lpstr>אריתמטיקה וקטורית – מכפלה סקלרית</vt:lpstr>
      <vt:lpstr>אריתמטיקה וקטורית – מכפלה סקלרית</vt:lpstr>
      <vt:lpstr>אריתמטיקה וקטורית – מכפלה סקלרית</vt:lpstr>
      <vt:lpstr>אריתמטיקה וקטורית – מכפלה וקטורית</vt:lpstr>
      <vt:lpstr>אריתמטיקה וקטורית – מכפלה וקטורית</vt:lpstr>
      <vt:lpstr>אריתמטיקה וקטורית – מכפלה וקטורית</vt:lpstr>
      <vt:lpstr>אריתמטיקה וקטורית – מכפלה וקטורית</vt:lpstr>
      <vt:lpstr>אריתמטיקה וקטורית – מכפלה וקטורית</vt:lpstr>
      <vt:lpstr>אריתמטיקה וקטורית – מכפלה וקטורית</vt:lpstr>
      <vt:lpstr>אריתמטיקה וקטורית – מכפלה וקטורית</vt:lpstr>
      <vt:lpstr>אריתמטיקה וקטורית – מכפלה וקטורית</vt:lpstr>
      <vt:lpstr>אריתמטיקה וקטורית – מכפלה וקטורית</vt:lpstr>
      <vt:lpstr>אריתמטיקה וקטורית – מכפלה וקטורית</vt:lpstr>
      <vt:lpstr>אריתמטיקה וקטורית – מכפלה וקטורית</vt:lpstr>
      <vt:lpstr>אריתמטיקה וקטורית – מכפלה וקטורית</vt:lpstr>
      <vt:lpstr>אריתמטיקה וקטורית – מכפלה וקטורית</vt:lpstr>
      <vt:lpstr>אריתמטיקה וקטורית – מכפלה וקטורית</vt:lpstr>
    </vt:vector>
  </TitlesOfParts>
  <Company>Yaron'S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קלאסית 1 – תרגול 1</dc:title>
  <dc:creator>nadav shrayer</dc:creator>
  <cp:lastModifiedBy>Yuval Gazit</cp:lastModifiedBy>
  <cp:revision>180</cp:revision>
  <dcterms:created xsi:type="dcterms:W3CDTF">2020-10-16T23:31:18Z</dcterms:created>
  <dcterms:modified xsi:type="dcterms:W3CDTF">2024-11-12T13:06:28Z</dcterms:modified>
</cp:coreProperties>
</file>